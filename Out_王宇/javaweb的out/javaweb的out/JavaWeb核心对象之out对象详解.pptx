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notesSlides/notesSlide1.xml" Type="http://schemas.openxmlformats.org/officeDocument/2006/relationships/notesSlide"/><Relationship Id="rId15" Target="notesSlides/notesSlide2.xml" Type="http://schemas.openxmlformats.org/officeDocument/2006/relationships/notesSlide"/><Relationship Id="rId16" Target="notesSlides/notesSlide3.xml" Type="http://schemas.openxmlformats.org/officeDocument/2006/relationships/notesSlide"/><Relationship Id="rId17" Target="notesSlides/notesSlide4.xml" Type="http://schemas.openxmlformats.org/officeDocument/2006/relationships/notesSlide"/><Relationship Id="rId18" Target="notesSlides/notesSlide5.xml" Type="http://schemas.openxmlformats.org/officeDocument/2006/relationships/notesSlide"/><Relationship Id="rId2" Target="viewProps.xml" Type="http://schemas.openxmlformats.org/officeDocument/2006/relationships/viewProps"/><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来深入探讨JavaWeb开发中一个非常基础但至关重要的内置对象——out对象。无论你是刚入门的新手，还是希望巩固基础的开发者，本次分享都将带你从概念到实践，全面掌握out对象的用法和技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来明确out对象是什么。它是JSP的内置对象，本质上是JspWriter类的实例，由服务器创建和管理。它的核心作用就是向浏览器输出内容，实现动态网页的生成。这里要特别区分一下，out对象和我们熟悉的System.out完全不同。out对象输出到浏览器，而System.out输出到服务器控制台，主要用于调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看out对象的常用方法。最核心的是print和println，它们的区别在于是否在源代码中添加换行符。要注意，页面上的换行需要用HTML的br标签。flush方法可以强制刷新缓冲区，立即输出内容。而clear和clearBuffer都用于清空缓冲区，其中clearBuffer更安全，不会抛出异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理论结合实践，我们来看一个简单的例子。这段JSP代码演示了out对象的基本用法。我们可以用它来输出静态文本和HTML标签，更重要的是，可以结合Java代码，比如这里的for循环，来动态生成页面内容，比如一个数字列表。这就是out对象实现动态网页的核心价值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我们来深入理解out对象的一个重要特性——缓冲区。它的存在是为了提高输出效率。缓冲区会在满了、调用flush、页面结束等时机自动刷新。在实际开发中，我们应该遵循一些最佳实践，比如尽量将Java代码和HTML分离，谨慎使用flush方法，以及正确设置页面的内容类型来避免乱码问题。这些细节将帮助你写出更健壮、更高效的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5.xml" Type="http://schemas.openxmlformats.org/officeDocument/2006/relationships/notesSlide"/><Relationship Id="rId4"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1016000" y="2286000"/>
            <a:ext cx="1041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333333"/>
                </a:solidFill>
                <a:latin typeface="Noto Sans SC"/>
                <a:ea typeface="Noto Sans SC"/>
                <a:cs typeface="Noto Sans SC"/>
                <a:sym typeface="Noto Sans SC"/>
              </a:rPr>
              <a:t>JavaWeb核心对象之out对象详解</a:t>
            </a:r>
            <a:endParaRPr lang="en-US" sz="1100"/>
          </a:p>
        </p:txBody>
      </p:sp>
      <p:sp>
        <p:nvSpPr>
          <p:cNvPr name="AutoShape 3" id="3"/>
          <p:cNvSpPr/>
          <p:nvPr/>
        </p:nvSpPr>
        <p:spPr>
          <a:xfrm rot="0" flipH="false" flipV="false">
            <a:off x="1016000" y="3683000"/>
            <a:ext cx="6604000" cy="1079500"/>
          </a:xfrm>
          <a:prstGeom prst="roundRect">
            <a:avLst>
              <a:gd name="adj" fmla="val 0"/>
            </a:avLst>
          </a:prstGeom>
          <a:solidFill>
            <a:srgbClr val="141414">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206500" y="3746500"/>
            <a:ext cx="622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200">
                <a:solidFill>
                  <a:srgbClr val="F8F9FA"/>
                </a:solidFill>
                <a:latin typeface="Noto Sans SC"/>
                <a:ea typeface="Noto Sans SC"/>
                <a:cs typeface="Noto Sans SC"/>
                <a:sym typeface="Noto Sans SC"/>
              </a:rPr>
              <a:t>从基础到实践的全面解析</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01. 概念与作用</a:t>
            </a:r>
            <a:endParaRPr lang="en-US" sz="1100"/>
          </a:p>
        </p:txBody>
      </p:sp>
      <p:sp>
        <p:nvSpPr>
          <p:cNvPr name="AutoShape 4" id="4"/>
          <p:cNvSpPr/>
          <p:nvPr/>
        </p:nvSpPr>
        <p:spPr>
          <a:xfrm rot="0" flipH="false" flipV="false">
            <a:off x="762000" y="1397000"/>
            <a:ext cx="5334000" cy="2413000"/>
          </a:xfrm>
          <a:prstGeom prst="roundRect">
            <a:avLst>
              <a:gd name="adj" fmla="val 0"/>
            </a:avLst>
          </a:prstGeom>
          <a:solidFill>
            <a:srgbClr val="FFFFFF">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53340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587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什么是 out 对象？</a:t>
            </a:r>
            <a:endParaRPr lang="en-US" sz="1100"/>
          </a:p>
        </p:txBody>
      </p:sp>
      <p:sp>
        <p:nvSpPr>
          <p:cNvPr name="AutoShape 7" id="7"/>
          <p:cNvSpPr/>
          <p:nvPr/>
        </p:nvSpPr>
        <p:spPr>
          <a:xfrm rot="0" flipH="false" flipV="false">
            <a:off x="952500" y="2095500"/>
            <a:ext cx="2476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3333"/>
                </a:solidFill>
                <a:latin typeface="Noto Sans SC"/>
                <a:ea typeface="Noto Sans SC"/>
                <a:cs typeface="Noto Sans SC"/>
                <a:sym typeface="Noto Sans SC"/>
              </a:rPr>
              <a:t>JSP 内置核心对象</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525252"/>
                </a:solidFill>
                <a:latin typeface="Noto Sans SC"/>
                <a:ea typeface="Noto Sans SC"/>
                <a:cs typeface="Noto Sans SC"/>
                <a:sym typeface="Noto Sans SC"/>
              </a:rPr>
              <a:t>无需手动声明即可直接使用，是九大内置对象中负责前端输出的关键组件，由 Web 容器（如 Tomcat）统一创建与管理。</a:t>
            </a:r>
            <a:endParaRPr lang="en-US" sz="1100"/>
          </a:p>
        </p:txBody>
      </p:sp>
      <p:cxnSp>
        <p:nvCxnSpPr>
          <p:cNvPr name="Connector 8" id="8"/>
          <p:cNvCxnSpPr/>
          <p:nvPr/>
        </p:nvCxnSpPr>
        <p:spPr>
          <a:xfrm rot="5371352" flipH="false" flipV="false">
            <a:off x="2730500" y="2851176"/>
            <a:ext cx="1524000" cy="12700"/>
          </a:xfrm>
          <a:prstGeom prst="straightConnector1">
            <a:avLst/>
          </a:prstGeom>
          <a:solidFill>
            <a:srgbClr val="DEE0E3">
              <a:alpha val="100000"/>
            </a:srgbClr>
          </a:solidFill>
          <a:ln w="12700" cmpd="sng" cap="flat">
            <a:solidFill>
              <a:srgbClr val="22C55E">
                <a:alpha val="20000"/>
              </a:srgbClr>
            </a:solidFill>
            <a:prstDash val="dash"/>
            <a:round/>
            <a:headEnd type="none" w="med" len="med"/>
            <a:tailEnd type="none" w="med" len="med"/>
          </a:ln>
        </p:spPr>
      </p:cxnSp>
      <p:sp>
        <p:nvSpPr>
          <p:cNvPr name="AutoShape 9" id="9"/>
          <p:cNvSpPr/>
          <p:nvPr/>
        </p:nvSpPr>
        <p:spPr>
          <a:xfrm rot="0" flipH="false" flipV="false">
            <a:off x="3556000" y="2095500"/>
            <a:ext cx="2413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3333"/>
                </a:solidFill>
                <a:latin typeface="Noto Sans SC"/>
                <a:ea typeface="Noto Sans SC"/>
                <a:cs typeface="Noto Sans SC"/>
                <a:sym typeface="Noto Sans SC"/>
              </a:rPr>
              <a:t>本质与定义</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525252"/>
                </a:solidFill>
                <a:latin typeface="Noto Sans SC"/>
                <a:ea typeface="Noto Sans SC"/>
                <a:cs typeface="Noto Sans SC"/>
                <a:sym typeface="Noto Sans SC"/>
              </a:rPr>
              <a:t>属于</a:t>
            </a:r>
            <a:r>
              <a:rPr lang="en-US" b="false" i="false" strike="noStrike" u="none" sz="1200">
                <a:solidFill>
                  <a:srgbClr val="22C55E"/>
                </a:solidFill>
                <a:latin typeface="Noto Sans SC"/>
                <a:ea typeface="Noto Sans SC"/>
                <a:cs typeface="Noto Sans SC"/>
                <a:sym typeface="Noto Sans SC"/>
              </a:rPr>
              <a:t>javax.servlet.jsp.JspWriter</a:t>
            </a:r>
            <a:r>
              <a:rPr lang="en-US" b="false" i="false" strike="noStrike" u="none" sz="1200">
                <a:solidFill>
                  <a:srgbClr val="525252"/>
                </a:solidFill>
                <a:latin typeface="Noto Sans SC"/>
                <a:ea typeface="Noto Sans SC"/>
                <a:cs typeface="Noto Sans SC"/>
                <a:sym typeface="Noto Sans SC"/>
              </a:rPr>
              <a:t>类的实例对象，专为在 Web 应用中向客户端输出字符流数据而设计。</a:t>
            </a:r>
            <a:endParaRPr lang="en-US" sz="1100"/>
          </a:p>
        </p:txBody>
      </p:sp>
      <p:sp>
        <p:nvSpPr>
          <p:cNvPr name="AutoShape 10" id="10"/>
          <p:cNvSpPr/>
          <p:nvPr/>
        </p:nvSpPr>
        <p:spPr>
          <a:xfrm rot="0" flipH="false" flipV="false">
            <a:off x="6350000" y="1397000"/>
            <a:ext cx="5334000" cy="2413000"/>
          </a:xfrm>
          <a:prstGeom prst="roundRect">
            <a:avLst>
              <a:gd name="adj" fmla="val 0"/>
            </a:avLst>
          </a:prstGeom>
          <a:solidFill>
            <a:srgbClr val="FFFFFF">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0" y="1397000"/>
            <a:ext cx="53340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540500" y="1587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核心作用与价值</a:t>
            </a:r>
            <a:endParaRPr lang="en-US" sz="1100"/>
          </a:p>
        </p:txBody>
      </p:sp>
      <p:sp>
        <p:nvSpPr>
          <p:cNvPr name="AutoShape 13" id="13"/>
          <p:cNvSpPr/>
          <p:nvPr/>
        </p:nvSpPr>
        <p:spPr>
          <a:xfrm rot="0" flipH="false" flipV="false">
            <a:off x="6540500" y="2095500"/>
            <a:ext cx="2476500" cy="15240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67500" y="2184400"/>
            <a:ext cx="2286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3333"/>
                </a:solidFill>
                <a:latin typeface="Noto Sans SC"/>
                <a:ea typeface="Noto Sans SC"/>
                <a:cs typeface="Noto Sans SC"/>
                <a:sym typeface="Noto Sans SC"/>
              </a:rPr>
              <a:t>客户端数据输出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4B4B"/>
                </a:solidFill>
                <a:latin typeface="Noto Sans SC"/>
                <a:ea typeface="Noto Sans SC"/>
                <a:cs typeface="Noto Sans SC"/>
                <a:sym typeface="Noto Sans SC"/>
              </a:rPr>
              <a:t>将字符串、HTML代码、变量值等各类数据，通过流的形式发送至浏览器，实现服务端数据的前端呈现。</a:t>
            </a:r>
            <a:endParaRPr lang="en-US" sz="1100"/>
          </a:p>
        </p:txBody>
      </p:sp>
      <p:sp>
        <p:nvSpPr>
          <p:cNvPr name="AutoShape 15" id="15"/>
          <p:cNvSpPr/>
          <p:nvPr/>
        </p:nvSpPr>
        <p:spPr>
          <a:xfrm rot="0" flipH="false" flipV="false">
            <a:off x="9144000" y="2095500"/>
            <a:ext cx="2476500" cy="15240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271000" y="2184400"/>
            <a:ext cx="2286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3333"/>
                </a:solidFill>
                <a:latin typeface="Noto Sans SC"/>
                <a:ea typeface="Noto Sans SC"/>
                <a:cs typeface="Noto Sans SC"/>
                <a:sym typeface="Noto Sans SC"/>
              </a:rPr>
              <a:t>动态页面构建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B4B4B"/>
                </a:solidFill>
                <a:latin typeface="Noto Sans SC"/>
                <a:ea typeface="Noto Sans SC"/>
                <a:cs typeface="Noto Sans SC"/>
                <a:sym typeface="Noto Sans SC"/>
              </a:rPr>
              <a:t>结合后端业务逻辑，实时生成页面内容。如动态填充表格、个性化展示用户信息、渲染业务报表等。</a:t>
            </a:r>
            <a:endParaRPr lang="en-US" sz="1100"/>
          </a:p>
        </p:txBody>
      </p:sp>
      <p:sp>
        <p:nvSpPr>
          <p:cNvPr name="AutoShape 17" id="17"/>
          <p:cNvSpPr/>
          <p:nvPr/>
        </p:nvSpPr>
        <p:spPr>
          <a:xfrm rot="0" flipH="false" flipV="false">
            <a:off x="762000" y="4064000"/>
            <a:ext cx="10922000" cy="2286000"/>
          </a:xfrm>
          <a:prstGeom prst="roundRect">
            <a:avLst>
              <a:gd name="adj" fmla="val 0"/>
            </a:avLst>
          </a:prstGeom>
          <a:solidFill>
            <a:srgbClr val="F6FCF8">
              <a:alpha val="9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4064000"/>
            <a:ext cx="2286000" cy="2286000"/>
          </a:xfrm>
          <a:prstGeom prst="roundRect">
            <a:avLst>
              <a:gd name="adj" fmla="val 0"/>
            </a:avLst>
          </a:prstGeom>
          <a:solidFill>
            <a:srgbClr val="22C55E">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89000" y="4318000"/>
            <a:ext cx="203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1F5A32"/>
                </a:solidFill>
                <a:latin typeface="Noto Sans SC"/>
                <a:ea typeface="Noto Sans SC"/>
                <a:cs typeface="Noto Sans SC"/>
                <a:sym typeface="Noto Sans SC"/>
              </a:rPr>
              <a:t>关键特性维度</a:t>
            </a:r>
            <a:endParaRPr lang="en-US" sz="1100"/>
          </a:p>
        </p:txBody>
      </p:sp>
      <p:sp>
        <p:nvSpPr>
          <p:cNvPr name="AutoShape 20" id="20"/>
          <p:cNvSpPr/>
          <p:nvPr/>
        </p:nvSpPr>
        <p:spPr>
          <a:xfrm rot="0" flipH="false" flipV="false">
            <a:off x="889000" y="4953000"/>
            <a:ext cx="203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323C37"/>
                </a:solidFill>
                <a:latin typeface="Noto Sans SC"/>
                <a:ea typeface="Noto Sans SC"/>
                <a:cs typeface="Noto Sans SC"/>
                <a:sym typeface="Noto Sans SC"/>
              </a:rPr>
              <a:t>对比二者的输出目标、使用场景及底层机制，明确各自在开发中的职责边界。</a:t>
            </a:r>
            <a:endParaRPr lang="en-US" sz="1100"/>
          </a:p>
        </p:txBody>
      </p:sp>
      <p:cxnSp>
        <p:nvCxnSpPr>
          <p:cNvPr name="Connector 21" id="21"/>
          <p:cNvCxnSpPr/>
          <p:nvPr/>
        </p:nvCxnSpPr>
        <p:spPr>
          <a:xfrm rot="5378514" flipH="false" flipV="false">
            <a:off x="2032000" y="5200670"/>
            <a:ext cx="2032000" cy="12700"/>
          </a:xfrm>
          <a:prstGeom prst="straightConnector1">
            <a:avLst/>
          </a:prstGeom>
          <a:solidFill>
            <a:srgbClr val="DEE0E3">
              <a:alpha val="100000"/>
            </a:srgbClr>
          </a:solidFill>
          <a:ln w="12700" cmpd="sng" cap="flat">
            <a:solidFill>
              <a:srgbClr val="22C55E">
                <a:alpha val="15000"/>
              </a:srgbClr>
            </a:solidFill>
            <a:prstDash val="solid"/>
            <a:round/>
            <a:headEnd type="none" w="med" len="med"/>
            <a:tailEnd type="none" w="med" len="med"/>
          </a:ln>
        </p:spPr>
      </p:cxnSp>
      <p:sp>
        <p:nvSpPr>
          <p:cNvPr name="AutoShape 22" id="22"/>
          <p:cNvSpPr/>
          <p:nvPr/>
        </p:nvSpPr>
        <p:spPr>
          <a:xfrm rot="0" flipH="false" flipV="false">
            <a:off x="3048000" y="4064000"/>
            <a:ext cx="4318000" cy="2286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3175000" y="4191000"/>
            <a:ext cx="4064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2C55E"/>
                </a:solidFill>
                <a:latin typeface="Noto Sans SC"/>
                <a:ea typeface="Noto Sans SC"/>
                <a:cs typeface="Noto Sans SC"/>
                <a:sym typeface="Noto Sans SC"/>
              </a:rPr>
              <a:t>out 对象 (JSP内置)</a:t>
            </a:r>
            <a:endParaRPr lang="en-US" sz="1100"/>
          </a:p>
        </p:txBody>
      </p:sp>
      <p:sp>
        <p:nvSpPr>
          <p:cNvPr name="AutoShape 24" id="24"/>
          <p:cNvSpPr/>
          <p:nvPr/>
        </p:nvSpPr>
        <p:spPr>
          <a:xfrm rot="0" flipH="false" flipV="false">
            <a:off x="3175000" y="4762500"/>
            <a:ext cx="4064000" cy="698500"/>
          </a:xfrm>
          <a:prstGeom prst="roundRect">
            <a:avLst>
              <a:gd name="adj" fmla="val 0"/>
            </a:avLst>
          </a:prstGeom>
          <a:solidFill>
            <a:srgbClr val="22C55E">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3302000" y="4800600"/>
            <a:ext cx="381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目标：客户端浏览器 | 机制：带缓冲区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505050"/>
                </a:solidFill>
                <a:latin typeface="Noto Sans SC"/>
                <a:ea typeface="Noto Sans SC"/>
                <a:cs typeface="Noto Sans SC"/>
                <a:sym typeface="Noto Sans SC"/>
              </a:rPr>
              <a:t>用于生成动态网页内容，是用户最终看到的页面数据来源。</a:t>
            </a:r>
            <a:endParaRPr lang="en-US" sz="1100"/>
          </a:p>
        </p:txBody>
      </p:sp>
      <p:sp>
        <p:nvSpPr>
          <p:cNvPr name="AutoShape 26" id="26"/>
          <p:cNvSpPr/>
          <p:nvPr/>
        </p:nvSpPr>
        <p:spPr>
          <a:xfrm rot="0" flipH="false" flipV="false">
            <a:off x="3175000" y="5588000"/>
            <a:ext cx="406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C3C3C"/>
                </a:solidFill>
                <a:latin typeface="Noto Sans SC"/>
                <a:ea typeface="Noto Sans SC"/>
                <a:cs typeface="Noto Sans SC"/>
                <a:sym typeface="Noto Sans SC"/>
              </a:rPr>
              <a:t>核心场景：向用户展示业务数据、渲染HTML视图、构建交互界面。</a:t>
            </a:r>
            <a:endParaRPr lang="en-US" sz="1100"/>
          </a:p>
        </p:txBody>
      </p:sp>
      <p:cxnSp>
        <p:nvCxnSpPr>
          <p:cNvPr name="Connector 27" id="27"/>
          <p:cNvCxnSpPr/>
          <p:nvPr/>
        </p:nvCxnSpPr>
        <p:spPr>
          <a:xfrm rot="5378514" flipH="false" flipV="false">
            <a:off x="6350000" y="5200670"/>
            <a:ext cx="2032000" cy="12700"/>
          </a:xfrm>
          <a:prstGeom prst="straightConnector1">
            <a:avLst/>
          </a:prstGeom>
          <a:solidFill>
            <a:srgbClr val="DEE0E3">
              <a:alpha val="100000"/>
            </a:srgbClr>
          </a:solidFill>
          <a:ln w="12700" cmpd="sng" cap="flat">
            <a:solidFill>
              <a:srgbClr val="22C55E">
                <a:alpha val="15000"/>
              </a:srgbClr>
            </a:solidFill>
            <a:prstDash val="solid"/>
            <a:round/>
            <a:headEnd type="none" w="med" len="med"/>
            <a:tailEnd type="none" w="med" len="med"/>
          </a:ln>
        </p:spPr>
      </p:cxnSp>
      <p:sp>
        <p:nvSpPr>
          <p:cNvPr name="AutoShape 28" id="28"/>
          <p:cNvSpPr/>
          <p:nvPr/>
        </p:nvSpPr>
        <p:spPr>
          <a:xfrm rot="0" flipH="false" flipV="false">
            <a:off x="7366000" y="4064000"/>
            <a:ext cx="4318000" cy="2286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7493000" y="4191000"/>
            <a:ext cx="4064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59E0B"/>
                </a:solidFill>
                <a:latin typeface="Noto Sans SC"/>
                <a:ea typeface="Noto Sans SC"/>
                <a:cs typeface="Noto Sans SC"/>
                <a:sym typeface="Noto Sans SC"/>
              </a:rPr>
              <a:t>System.out (标准输出)</a:t>
            </a:r>
            <a:endParaRPr lang="en-US" sz="1100"/>
          </a:p>
        </p:txBody>
      </p:sp>
      <p:sp>
        <p:nvSpPr>
          <p:cNvPr name="AutoShape 30" id="30"/>
          <p:cNvSpPr/>
          <p:nvPr/>
        </p:nvSpPr>
        <p:spPr>
          <a:xfrm rot="0" flipH="false" flipV="false">
            <a:off x="7493000" y="4762500"/>
            <a:ext cx="4064000" cy="698500"/>
          </a:xfrm>
          <a:prstGeom prst="roundRect">
            <a:avLst>
              <a:gd name="adj" fmla="val 0"/>
            </a:avLst>
          </a:prstGeom>
          <a:solidFill>
            <a:srgbClr val="F59E0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7620000" y="4800600"/>
            <a:ext cx="381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目标：服务器控制台 | 机制：无缓冲直出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505050"/>
                </a:solidFill>
                <a:latin typeface="Noto Sans SC"/>
                <a:ea typeface="Noto Sans SC"/>
                <a:cs typeface="Noto Sans SC"/>
                <a:sym typeface="Noto Sans SC"/>
              </a:rPr>
              <a:t>仅在服务端可见，用于开发阶段的程序调试与日志记录。</a:t>
            </a:r>
            <a:endParaRPr lang="en-US" sz="1100"/>
          </a:p>
        </p:txBody>
      </p:sp>
      <p:sp>
        <p:nvSpPr>
          <p:cNvPr name="AutoShape 32" id="32"/>
          <p:cNvSpPr/>
          <p:nvPr/>
        </p:nvSpPr>
        <p:spPr>
          <a:xfrm rot="0" flipH="false" flipV="false">
            <a:off x="7493000" y="5588000"/>
            <a:ext cx="406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C3C3C"/>
                </a:solidFill>
                <a:latin typeface="Noto Sans SC"/>
                <a:ea typeface="Noto Sans SC"/>
                <a:cs typeface="Noto Sans SC"/>
                <a:sym typeface="Noto Sans SC"/>
              </a:rPr>
              <a:t>核心场景：排查代码错误、输出运行时变量、记录后端执行流程。</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02. 核心方法详解</a:t>
            </a:r>
            <a:endParaRPr lang="en-US" sz="1100"/>
          </a:p>
        </p:txBody>
      </p:sp>
      <p:sp>
        <p:nvSpPr>
          <p:cNvPr name="AutoShape 4" id="4"/>
          <p:cNvSpPr/>
          <p:nvPr/>
        </p:nvSpPr>
        <p:spPr>
          <a:xfrm rot="0" flipH="false" flipV="false">
            <a:off x="762000" y="1397000"/>
            <a:ext cx="5207000" cy="2349500"/>
          </a:xfrm>
          <a:prstGeom prst="roundRect">
            <a:avLst>
              <a:gd name="adj" fmla="val 0"/>
            </a:avLst>
          </a:prstGeom>
          <a:solidFill>
            <a:srgbClr val="FFFFFF">
              <a:alpha val="9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5494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print() 和 println() —— 基础输出</a:t>
            </a:r>
            <a:endParaRPr lang="en-US" sz="1100"/>
          </a:p>
        </p:txBody>
      </p:sp>
      <p:sp>
        <p:nvSpPr>
          <p:cNvPr name="AutoShape 7" id="7"/>
          <p:cNvSpPr/>
          <p:nvPr/>
        </p:nvSpPr>
        <p:spPr>
          <a:xfrm rot="0" flipH="false" flipV="false">
            <a:off x="952500" y="2006600"/>
            <a:ext cx="488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核心功能是将传入的数据转换为字符串形式并输出到响应流中，是 Web 开发中最常用的内容输出手段。</a:t>
            </a:r>
            <a:endParaRPr lang="en-US" sz="1100"/>
          </a:p>
        </p:txBody>
      </p:sp>
      <p:sp>
        <p:nvSpPr>
          <p:cNvPr name="AutoShape 8" id="8"/>
          <p:cNvSpPr/>
          <p:nvPr/>
        </p:nvSpPr>
        <p:spPr>
          <a:xfrm rot="0" flipH="false" flipV="false">
            <a:off x="952500" y="2667000"/>
            <a:ext cx="2387600" cy="952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41400" y="2705100"/>
            <a:ext cx="2222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5803D"/>
                </a:solidFill>
                <a:latin typeface="Noto Sans SC"/>
                <a:ea typeface="Noto Sans SC"/>
                <a:cs typeface="Noto Sans SC"/>
                <a:sym typeface="Noto Sans SC"/>
              </a:rPr>
              <a:t>print() 不换行输出</a:t>
            </a:r>
            <a:endParaRPr lang="en-US" sz="1100"/>
          </a:p>
        </p:txBody>
      </p:sp>
      <p:sp>
        <p:nvSpPr>
          <p:cNvPr name="AutoShape 10" id="10"/>
          <p:cNvSpPr/>
          <p:nvPr/>
        </p:nvSpPr>
        <p:spPr>
          <a:xfrm rot="0" flipH="false" flipV="false">
            <a:off x="1041400" y="3022600"/>
            <a:ext cx="222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连续调用时内容紧接，源代码中无额外换行符，适合紧凑输出。</a:t>
            </a:r>
            <a:endParaRPr lang="en-US" sz="1100"/>
          </a:p>
        </p:txBody>
      </p:sp>
      <p:sp>
        <p:nvSpPr>
          <p:cNvPr name="AutoShape 11" id="11"/>
          <p:cNvSpPr/>
          <p:nvPr/>
        </p:nvSpPr>
        <p:spPr>
          <a:xfrm rot="0" flipH="false" flipV="false">
            <a:off x="3467100" y="2667000"/>
            <a:ext cx="2387600" cy="952500"/>
          </a:xfrm>
          <a:prstGeom prst="roundRect">
            <a:avLst>
              <a:gd name="adj" fmla="val 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556000" y="2705100"/>
            <a:ext cx="2222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D4ED8"/>
                </a:solidFill>
                <a:latin typeface="Noto Sans SC"/>
                <a:ea typeface="Noto Sans SC"/>
                <a:cs typeface="Noto Sans SC"/>
                <a:sym typeface="Noto Sans SC"/>
              </a:rPr>
              <a:t>println() 追加换行</a:t>
            </a:r>
            <a:endParaRPr lang="en-US" sz="1100"/>
          </a:p>
        </p:txBody>
      </p:sp>
      <p:sp>
        <p:nvSpPr>
          <p:cNvPr name="AutoShape 13" id="13"/>
          <p:cNvSpPr/>
          <p:nvPr/>
        </p:nvSpPr>
        <p:spPr>
          <a:xfrm rot="0" flipH="false" flipV="false">
            <a:off x="3556000" y="3022600"/>
            <a:ext cx="222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输出后添加 \n，仅格式化源码；页面换行需配合 &lt;br&gt; 标签使用。</a:t>
            </a:r>
            <a:endParaRPr lang="en-US" sz="1100"/>
          </a:p>
        </p:txBody>
      </p:sp>
      <p:sp>
        <p:nvSpPr>
          <p:cNvPr name="AutoShape 14" id="14"/>
          <p:cNvSpPr/>
          <p:nvPr/>
        </p:nvSpPr>
        <p:spPr>
          <a:xfrm rot="0" flipH="false" flipV="false">
            <a:off x="762000" y="3937000"/>
            <a:ext cx="5207000" cy="2286000"/>
          </a:xfrm>
          <a:prstGeom prst="roundRect">
            <a:avLst>
              <a:gd name="adj" fmla="val 0"/>
            </a:avLst>
          </a:prstGeom>
          <a:solidFill>
            <a:srgbClr val="FFFFFF">
              <a:alpha val="9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39370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52500" y="40894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newLine() —— 流内换行控制</a:t>
            </a:r>
            <a:endParaRPr lang="en-US" sz="1100"/>
          </a:p>
        </p:txBody>
      </p:sp>
      <p:sp>
        <p:nvSpPr>
          <p:cNvPr name="AutoShape 17" id="17"/>
          <p:cNvSpPr/>
          <p:nvPr/>
        </p:nvSpPr>
        <p:spPr>
          <a:xfrm rot="0" flipH="false" flipV="false">
            <a:off x="952500" y="4572000"/>
            <a:ext cx="4889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等效于执行 out.print("\n")，显式向底层输出流写入一个平台特定的换行分隔符，不依赖参数内容。</a:t>
            </a:r>
            <a:endParaRPr lang="en-US" sz="1100"/>
          </a:p>
        </p:txBody>
      </p:sp>
      <p:sp>
        <p:nvSpPr>
          <p:cNvPr name="AutoShape 18" id="18"/>
          <p:cNvSpPr/>
          <p:nvPr/>
        </p:nvSpPr>
        <p:spPr>
          <a:xfrm rot="0" flipH="false" flipV="false">
            <a:off x="952500" y="5334000"/>
            <a:ext cx="4889500" cy="762000"/>
          </a:xfrm>
          <a:prstGeom prst="roundRect">
            <a:avLst>
              <a:gd name="adj" fmla="val 0"/>
            </a:avLst>
          </a:prstGeom>
          <a:solidFill>
            <a:srgbClr val="F3F4F6">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79500" y="5410200"/>
            <a:ext cx="4635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1F2937"/>
                </a:solidFill>
                <a:latin typeface="Noto Sans SC"/>
                <a:ea typeface="Noto Sans SC"/>
                <a:cs typeface="Noto Sans SC"/>
                <a:sym typeface="Noto Sans SC"/>
              </a:rPr>
              <a:t>应用场景：</a:t>
            </a:r>
            <a:r>
              <a:rPr lang="en-US" b="false" i="false" strike="noStrike" u="none" sz="1200">
                <a:solidFill>
                  <a:srgbClr val="4B5563"/>
                </a:solidFill>
                <a:latin typeface="Noto Sans SC"/>
                <a:ea typeface="Noto Sans SC"/>
                <a:cs typeface="Noto Sans SC"/>
                <a:sym typeface="Noto Sans SC"/>
              </a:rPr>
              <a:t>主要用于生成可读性更高的 HTML 源代码结构，让后端输出的原始代码在浏览器开发者工具中呈现更整洁的换行格式。</a:t>
            </a:r>
            <a:endParaRPr lang="en-US" sz="1100"/>
          </a:p>
        </p:txBody>
      </p:sp>
      <p:sp>
        <p:nvSpPr>
          <p:cNvPr name="AutoShape 20" id="20"/>
          <p:cNvSpPr/>
          <p:nvPr/>
        </p:nvSpPr>
        <p:spPr>
          <a:xfrm rot="0" flipH="false" flipV="false">
            <a:off x="6223000" y="1397000"/>
            <a:ext cx="5207000" cy="1714500"/>
          </a:xfrm>
          <a:prstGeom prst="roundRect">
            <a:avLst>
              <a:gd name="adj" fmla="val 0"/>
            </a:avLst>
          </a:prstGeom>
          <a:solidFill>
            <a:srgbClr val="FFFFFF">
              <a:alpha val="9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13970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13500" y="15494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flush() —— 强制即时输出</a:t>
            </a:r>
            <a:endParaRPr lang="en-US" sz="1100"/>
          </a:p>
        </p:txBody>
      </p:sp>
      <p:sp>
        <p:nvSpPr>
          <p:cNvPr name="AutoShape 23" id="23"/>
          <p:cNvSpPr/>
          <p:nvPr/>
        </p:nvSpPr>
        <p:spPr>
          <a:xfrm rot="0" flipH="false" flipV="false">
            <a:off x="6413500" y="2006600"/>
            <a:ext cx="4889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突破缓冲区机制，将内存中暂存的响应内容立即发送给客户端浏览器，不等待缓冲区填满或响应结束。</a:t>
            </a:r>
            <a:endParaRPr lang="en-US" sz="1100"/>
          </a:p>
        </p:txBody>
      </p:sp>
      <p:sp>
        <p:nvSpPr>
          <p:cNvPr name="AutoShape 24" id="24"/>
          <p:cNvSpPr/>
          <p:nvPr/>
        </p:nvSpPr>
        <p:spPr>
          <a:xfrm rot="0" flipH="false" flipV="false">
            <a:off x="6413500" y="2603500"/>
            <a:ext cx="4889500" cy="406400"/>
          </a:xfrm>
          <a:prstGeom prst="roundRect">
            <a:avLst>
              <a:gd name="adj" fmla="val 0"/>
            </a:avLst>
          </a:prstGeom>
          <a:solidFill>
            <a:srgbClr val="FEF3C7">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502400" y="2628900"/>
            <a:ext cx="469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B45309"/>
                </a:solidFill>
                <a:latin typeface="Noto Sans SC"/>
                <a:ea typeface="Noto Sans SC"/>
                <a:cs typeface="Noto Sans SC"/>
                <a:sym typeface="Noto Sans SC"/>
              </a:rPr>
              <a:t>关键价值：</a:t>
            </a:r>
            <a:r>
              <a:rPr lang="en-US" b="false" i="false" strike="noStrike" u="none" sz="1200">
                <a:solidFill>
                  <a:srgbClr val="92400E"/>
                </a:solidFill>
                <a:latin typeface="Noto Sans SC"/>
                <a:ea typeface="Noto Sans SC"/>
                <a:cs typeface="Noto Sans SC"/>
                <a:sym typeface="Noto Sans SC"/>
              </a:rPr>
              <a:t>实时展示处理进度，或确保重要提示信息优先送达。</a:t>
            </a:r>
            <a:endParaRPr lang="en-US" sz="1100"/>
          </a:p>
        </p:txBody>
      </p:sp>
      <p:sp>
        <p:nvSpPr>
          <p:cNvPr name="AutoShape 26" id="26"/>
          <p:cNvSpPr/>
          <p:nvPr/>
        </p:nvSpPr>
        <p:spPr>
          <a:xfrm rot="0" flipH="false" flipV="false">
            <a:off x="6223000" y="3238500"/>
            <a:ext cx="5207000" cy="1714500"/>
          </a:xfrm>
          <a:prstGeom prst="roundRect">
            <a:avLst>
              <a:gd name="adj" fmla="val 0"/>
            </a:avLst>
          </a:prstGeom>
          <a:solidFill>
            <a:srgbClr val="FFFFFF">
              <a:alpha val="9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223000" y="32385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413500" y="33655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close() —— 关闭并释放资源</a:t>
            </a:r>
            <a:endParaRPr lang="en-US" sz="1100"/>
          </a:p>
        </p:txBody>
      </p:sp>
      <p:sp>
        <p:nvSpPr>
          <p:cNvPr name="AutoShape 29" id="29"/>
          <p:cNvSpPr/>
          <p:nvPr/>
        </p:nvSpPr>
        <p:spPr>
          <a:xfrm rot="0" flipH="false" flipV="false">
            <a:off x="6413500" y="3835400"/>
            <a:ext cx="4889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执行此方法会先自动刷新缓冲区，随后关闭输出流，释放关联的系统资源，结束本次响应过程。</a:t>
            </a:r>
            <a:endParaRPr lang="en-US" sz="1100"/>
          </a:p>
        </p:txBody>
      </p:sp>
      <p:sp>
        <p:nvSpPr>
          <p:cNvPr name="AutoShape 30" id="30"/>
          <p:cNvSpPr/>
          <p:nvPr/>
        </p:nvSpPr>
        <p:spPr>
          <a:xfrm rot="0" flipH="false" flipV="false">
            <a:off x="6413500" y="4381500"/>
            <a:ext cx="4889500" cy="482600"/>
          </a:xfrm>
          <a:prstGeom prst="roundRect">
            <a:avLst>
              <a:gd name="adj" fmla="val 0"/>
            </a:avLst>
          </a:prstGeom>
          <a:solidFill>
            <a:srgbClr val="FEE2E2">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502400" y="4406900"/>
            <a:ext cx="4699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B91C1C"/>
                </a:solidFill>
                <a:latin typeface="Noto Sans SC"/>
                <a:ea typeface="Noto Sans SC"/>
                <a:cs typeface="Noto Sans SC"/>
                <a:sym typeface="Noto Sans SC"/>
              </a:rPr>
              <a:t>重要警告：</a:t>
            </a:r>
            <a:r>
              <a:rPr lang="en-US" b="false" i="false" strike="noStrike" u="none" sz="1200">
                <a:solidFill>
                  <a:srgbClr val="991B1B"/>
                </a:solidFill>
                <a:latin typeface="Noto Sans SC"/>
                <a:ea typeface="Noto Sans SC"/>
                <a:cs typeface="Noto Sans SC"/>
                <a:sym typeface="Noto Sans SC"/>
              </a:rPr>
              <a:t>流关闭后不可再次写入，否则抛出 IOException 异常。</a:t>
            </a:r>
            <a:endParaRPr lang="en-US" sz="1100"/>
          </a:p>
        </p:txBody>
      </p:sp>
      <p:sp>
        <p:nvSpPr>
          <p:cNvPr name="AutoShape 32" id="32"/>
          <p:cNvSpPr/>
          <p:nvPr/>
        </p:nvSpPr>
        <p:spPr>
          <a:xfrm rot="0" flipH="false" flipV="false">
            <a:off x="6223000" y="5080000"/>
            <a:ext cx="5207000" cy="1460500"/>
          </a:xfrm>
          <a:prstGeom prst="roundRect">
            <a:avLst>
              <a:gd name="adj" fmla="val 0"/>
            </a:avLst>
          </a:prstGeom>
          <a:solidFill>
            <a:srgbClr val="FFFFFF">
              <a:alpha val="92000"/>
            </a:srgbClr>
          </a:solidFill>
          <a:ln w="12700" cmpd="sng" cap="flat">
            <a:solidFill>
              <a:srgbClr val="22C55E">
                <a:alpha val="35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223000" y="5080000"/>
            <a:ext cx="5207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413500" y="51816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2C55E"/>
                </a:solidFill>
                <a:latin typeface="Noto Sans SC"/>
                <a:ea typeface="Noto Sans SC"/>
                <a:cs typeface="Noto Sans SC"/>
                <a:sym typeface="Noto Sans SC"/>
              </a:rPr>
              <a:t>缓冲区清除：clear() vs clearBuffer()</a:t>
            </a:r>
            <a:endParaRPr lang="en-US" sz="1100"/>
          </a:p>
        </p:txBody>
      </p:sp>
      <p:sp>
        <p:nvSpPr>
          <p:cNvPr name="AutoShape 35" id="35"/>
          <p:cNvSpPr/>
          <p:nvPr/>
        </p:nvSpPr>
        <p:spPr>
          <a:xfrm rot="0" flipH="false" flipV="false">
            <a:off x="6413500" y="5588000"/>
            <a:ext cx="2387600" cy="863600"/>
          </a:xfrm>
          <a:prstGeom prst="roundRect">
            <a:avLst>
              <a:gd name="adj" fmla="val 0"/>
            </a:avLst>
          </a:prstGeom>
          <a:solidFill>
            <a:srgbClr val="F87171">
              <a:alpha val="9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502400" y="5613400"/>
            <a:ext cx="2222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B91C1C"/>
                </a:solidFill>
                <a:latin typeface="Noto Sans SC"/>
                <a:ea typeface="Noto Sans SC"/>
                <a:cs typeface="Noto Sans SC"/>
                <a:sym typeface="Noto Sans SC"/>
              </a:rPr>
              <a:t>clear() 非安全清除</a:t>
            </a:r>
            <a:endParaRPr lang="en-US" sz="1100"/>
          </a:p>
        </p:txBody>
      </p:sp>
      <p:sp>
        <p:nvSpPr>
          <p:cNvPr name="AutoShape 37" id="37"/>
          <p:cNvSpPr/>
          <p:nvPr/>
        </p:nvSpPr>
        <p:spPr>
          <a:xfrm rot="0" flipH="false" flipV="false">
            <a:off x="6502400" y="5905500"/>
            <a:ext cx="222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若数据已提交，会直接抛出异常中断流程。</a:t>
            </a:r>
            <a:endParaRPr lang="en-US" sz="1100"/>
          </a:p>
        </p:txBody>
      </p:sp>
      <p:sp>
        <p:nvSpPr>
          <p:cNvPr name="AutoShape 38" id="38"/>
          <p:cNvSpPr/>
          <p:nvPr/>
        </p:nvSpPr>
        <p:spPr>
          <a:xfrm rot="0" flipH="false" flipV="false">
            <a:off x="8890000" y="5588000"/>
            <a:ext cx="2387600" cy="863600"/>
          </a:xfrm>
          <a:prstGeom prst="roundRect">
            <a:avLst>
              <a:gd name="adj" fmla="val 0"/>
            </a:avLst>
          </a:prstGeom>
          <a:solidFill>
            <a:srgbClr val="22C55E">
              <a:alpha val="9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8978900" y="5613400"/>
            <a:ext cx="2222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5803D"/>
                </a:solidFill>
                <a:latin typeface="Noto Sans SC"/>
                <a:ea typeface="Noto Sans SC"/>
                <a:cs typeface="Noto Sans SC"/>
                <a:sym typeface="Noto Sans SC"/>
              </a:rPr>
              <a:t>clearBuffer() 安全模式</a:t>
            </a:r>
            <a:endParaRPr lang="en-US" sz="1100"/>
          </a:p>
        </p:txBody>
      </p:sp>
      <p:sp>
        <p:nvSpPr>
          <p:cNvPr name="AutoShape 40" id="40"/>
          <p:cNvSpPr/>
          <p:nvPr/>
        </p:nvSpPr>
        <p:spPr>
          <a:xfrm rot="0" flipH="false" flipV="false">
            <a:off x="8978900" y="5905500"/>
            <a:ext cx="222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静默清除缓冲区，无论状态如何均不抛异常。</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03. 实战演练</a:t>
            </a:r>
            <a:endParaRPr lang="en-US" sz="1100"/>
          </a:p>
        </p:txBody>
      </p:sp>
      <p:sp>
        <p:nvSpPr>
          <p:cNvPr name="AutoShape 4" id="4"/>
          <p:cNvSpPr/>
          <p:nvPr/>
        </p:nvSpPr>
        <p:spPr>
          <a:xfrm rot="0" flipH="false" flipV="false">
            <a:off x="762000" y="1397000"/>
            <a:ext cx="4445000" cy="3175000"/>
          </a:xfrm>
          <a:prstGeom prst="roundRect">
            <a:avLst>
              <a:gd name="adj" fmla="val 0"/>
            </a:avLst>
          </a:prstGeom>
          <a:solidFill>
            <a:srgbClr val="FFFFFF">
              <a:alpha val="95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4571" b="4571"/>
          <a:stretch>
            <a:fillRect/>
          </a:stretch>
        </p:blipFill>
        <p:spPr>
          <a:xfrm rot="0" flipH="false" flipV="false">
            <a:off x="889000" y="1524000"/>
            <a:ext cx="4191000" cy="2921000"/>
          </a:xfrm>
          <a:prstGeom prst="rect">
            <a:avLst/>
          </a:prstGeom>
          <a:noFill/>
          <a:ln w="25400" cmpd="sng" cap="flat">
            <a:noFill/>
            <a:prstDash val="solid"/>
            <a:round/>
          </a:ln>
        </p:spPr>
      </p:pic>
      <p:sp>
        <p:nvSpPr>
          <p:cNvPr name="AutoShape 6" id="6"/>
          <p:cNvSpPr/>
          <p:nvPr/>
        </p:nvSpPr>
        <p:spPr>
          <a:xfrm rot="0" flipH="false" flipV="false">
            <a:off x="762000" y="4699000"/>
            <a:ext cx="4445000" cy="1651000"/>
          </a:xfrm>
          <a:prstGeom prst="roundRect">
            <a:avLst>
              <a:gd name="adj" fmla="val 0"/>
            </a:avLst>
          </a:prstGeom>
          <a:solidFill>
            <a:srgbClr val="F0F9F3">
              <a:alpha val="92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4826000"/>
            <a:ext cx="4064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1F2937"/>
                </a:solidFill>
                <a:latin typeface="Noto Sans SC"/>
                <a:ea typeface="Noto Sans SC"/>
                <a:cs typeface="Noto Sans SC"/>
                <a:sym typeface="Noto Sans SC"/>
              </a:rPr>
              <a:t>在实际开发中，开发者通常在代码编辑器中编写JSP脚本。通过直接操作</a:t>
            </a:r>
            <a:r>
              <a:rPr lang="en-US" b="true" i="false" strike="noStrike" u="none" sz="1300">
                <a:solidFill>
                  <a:srgbClr val="22C55E"/>
                </a:solidFill>
                <a:latin typeface="Noto Sans SC"/>
                <a:ea typeface="Noto Sans SC"/>
                <a:cs typeface="Noto Sans SC"/>
                <a:sym typeface="Noto Sans SC"/>
              </a:rPr>
              <a:t>out 对象</a:t>
            </a:r>
            <a:r>
              <a:rPr lang="en-US" b="false" i="false" strike="noStrike" u="none" sz="1300">
                <a:solidFill>
                  <a:srgbClr val="1F2937"/>
                </a:solidFill>
                <a:latin typeface="Noto Sans SC"/>
                <a:ea typeface="Noto Sans SC"/>
                <a:cs typeface="Noto Sans SC"/>
                <a:sym typeface="Noto Sans SC"/>
              </a:rPr>
              <a:t>，我们能跳过复杂的中间渲染步骤，直接与浏览器的输出流进行交互，从而实现动态内容的即时生成与响应。</a:t>
            </a:r>
            <a:endParaRPr lang="en-US" sz="1100"/>
          </a:p>
        </p:txBody>
      </p:sp>
      <p:cxnSp>
        <p:nvCxnSpPr>
          <p:cNvPr name="Connector 8" id="8"/>
          <p:cNvCxnSpPr/>
          <p:nvPr/>
        </p:nvCxnSpPr>
        <p:spPr>
          <a:xfrm rot="5391185" flipH="false" flipV="false">
            <a:off x="2984500" y="3867158"/>
            <a:ext cx="4953000" cy="12700"/>
          </a:xfrm>
          <a:prstGeom prst="straightConnector1">
            <a:avLst/>
          </a:prstGeom>
          <a:solidFill>
            <a:srgbClr val="DEE0E3">
              <a:alpha val="100000"/>
            </a:srgbClr>
          </a:solidFill>
          <a:ln w="12700" cmpd="sng" cap="flat">
            <a:solidFill>
              <a:srgbClr val="22C55E">
                <a:alpha val="30000"/>
              </a:srgbClr>
            </a:solidFill>
            <a:prstDash val="dash"/>
            <a:round/>
            <a:headEnd type="none" w="med" len="med"/>
            <a:tailEnd type="none" w="med" len="med"/>
          </a:ln>
        </p:spPr>
      </p:cxnSp>
      <p:sp>
        <p:nvSpPr>
          <p:cNvPr name="AutoShape 9" id="9"/>
          <p:cNvSpPr/>
          <p:nvPr/>
        </p:nvSpPr>
        <p:spPr>
          <a:xfrm rot="0" flipH="false" flipV="false">
            <a:off x="5651500" y="1397000"/>
            <a:ext cx="6223000" cy="3175000"/>
          </a:xfrm>
          <a:prstGeom prst="roundRect">
            <a:avLst>
              <a:gd name="adj" fmla="val 0"/>
            </a:avLst>
          </a:prstGeom>
          <a:solidFill>
            <a:srgbClr val="14191E">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651500" y="1397000"/>
            <a:ext cx="6223000" cy="3556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778500" y="1473200"/>
            <a:ext cx="127000" cy="127000"/>
          </a:xfrm>
          <a:prstGeom prst="ellipse">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994400" y="1473200"/>
            <a:ext cx="127000" cy="127000"/>
          </a:xfrm>
          <a:prstGeom prst="ellipse">
            <a:avLst/>
          </a:prstGeom>
          <a:solidFill>
            <a:srgbClr val="EAB30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10300" y="1473200"/>
            <a:ext cx="127000" cy="127000"/>
          </a:xfrm>
          <a:prstGeom prst="ellipse">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1435100"/>
            <a:ext cx="3810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9CA3AF"/>
                </a:solidFill>
                <a:latin typeface="Noto Sans SC"/>
                <a:ea typeface="Noto Sans SC"/>
                <a:cs typeface="Noto Sans SC"/>
                <a:sym typeface="Noto Sans SC"/>
              </a:rPr>
              <a:t>out_example.jsp — JSP 动态页面示例</a:t>
            </a:r>
            <a:endParaRPr lang="en-US" sz="1100"/>
          </a:p>
        </p:txBody>
      </p:sp>
      <p:sp>
        <p:nvSpPr>
          <p:cNvPr name="AutoShape 15" id="15"/>
          <p:cNvSpPr/>
          <p:nvPr/>
        </p:nvSpPr>
        <p:spPr>
          <a:xfrm rot="0" flipH="false" flipV="false">
            <a:off x="5778500" y="1841500"/>
            <a:ext cx="5969000" cy="260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C678DD"/>
                </a:solidFill>
                <a:latin typeface="Consolas"/>
                <a:ea typeface="Consolas"/>
                <a:cs typeface="Consolas"/>
                <a:sym typeface="Consolas"/>
              </a:rPr>
              <a:t>&lt;%@ page contentType="text/html;charset=UTF-8" %&gt;</a:t>
            </a:r>
            <a:r>
              <a:rPr lang="en-US" b="false" i="false" strike="noStrike" u="none" sz="1100">
                <a:solidFill>
                  <a:srgbClr val="1F2329"/>
                </a:solidFill>
                <a:latin typeface="Consolas"/>
                <a:ea typeface="Consolas"/>
                <a:cs typeface="Consolas"/>
                <a:sym typeface="Consolas"/>
              </a:rPr>
              <a:t/>
            </a:r>
            <a:endParaRPr lang="en-US" sz="1100"/>
          </a:p>
          <a:p>
            <a:pPr algn="l" marL="0" indent="0">
              <a:lnSpc>
                <a:spcPct val="108333"/>
              </a:lnSpc>
            </a:pPr>
            <a:r>
              <a:rPr lang="en-US" b="false" i="false" strike="noStrike" u="none" sz="1100">
                <a:solidFill>
                  <a:srgbClr val="ABB2BF"/>
                </a:solidFill>
                <a:latin typeface="Consolas"/>
                <a:ea typeface="Consolas"/>
                <a:cs typeface="Consolas"/>
                <a:sym typeface="Consolas"/>
              </a:rPr>
              <a:t>&lt;html&gt;&lt;body&gt;</a:t>
            </a:r>
            <a:r>
              <a:rPr lang="en-US" b="false" i="false" strike="noStrike" u="none" sz="1100">
                <a:solidFill>
                  <a:srgbClr val="1F2329"/>
                </a:solidFill>
                <a:latin typeface="Consolas"/>
                <a:ea typeface="Consolas"/>
                <a:cs typeface="Consolas"/>
                <a:sym typeface="Consolas"/>
              </a:rPr>
              <a:t/>
            </a:r>
          </a:p>
          <a:p>
            <a:pPr algn="l" marL="0" indent="0">
              <a:lnSpc>
                <a:spcPct val="108333"/>
              </a:lnSpc>
            </a:pPr>
            <a:r>
              <a:rPr lang="en-US" b="false" i="false" strike="noStrike" u="none" sz="1100">
                <a:solidFill>
                  <a:srgbClr val="ABB2BF"/>
                </a:solidFill>
                <a:latin typeface="Consolas"/>
                <a:ea typeface="Consolas"/>
                <a:cs typeface="Consolas"/>
                <a:sym typeface="Consolas"/>
              </a:rPr>
              <a:t>&lt;h1&gt;out对象使用演示&lt;/h1&gt;</a:t>
            </a:r>
            <a:r>
              <a:rPr lang="en-US" b="false" i="false" strike="noStrike" u="none" sz="1100">
                <a:solidFill>
                  <a:srgbClr val="1F2329"/>
                </a:solidFill>
                <a:latin typeface="Consolas"/>
                <a:ea typeface="Consolas"/>
                <a:cs typeface="Consolas"/>
                <a:sym typeface="Consolas"/>
              </a:rPr>
              <a:t/>
            </a:r>
          </a:p>
          <a:p>
            <a:pPr algn="l" marL="0" indent="0">
              <a:lnSpc>
                <a:spcPct val="108333"/>
              </a:lnSpc>
            </a:pPr>
            <a:r>
              <a:rPr lang="en-US" b="false" i="false" strike="noStrike" u="none" sz="1100">
                <a:solidFill>
                  <a:srgbClr val="61AFEF"/>
                </a:solidFill>
                <a:latin typeface="Consolas"/>
                <a:ea typeface="Consolas"/>
                <a:cs typeface="Consolas"/>
                <a:sym typeface="Consolas"/>
              </a:rPr>
              <a:t>&lt;%out</a:t>
            </a:r>
            <a:r>
              <a:rPr lang="en-US" b="false" i="false" strike="noStrike" u="none" sz="1100">
                <a:solidFill>
                  <a:srgbClr val="ABB2BF"/>
                </a:solidFill>
                <a:latin typeface="Consolas"/>
                <a:ea typeface="Consolas"/>
                <a:cs typeface="Consolas"/>
                <a:sym typeface="Consolas"/>
              </a:rPr>
              <a:t>.println("这是使用out.println输出的文本。&lt;br&gt;");</a:t>
            </a:r>
            <a:r>
              <a:rPr lang="en-US" b="false" i="false" strike="noStrike" u="none" sz="1100">
                <a:solidFill>
                  <a:srgbClr val="61AFEF"/>
                </a:solidFill>
                <a:latin typeface="Consolas"/>
                <a:ea typeface="Consolas"/>
                <a:cs typeface="Consolas"/>
                <a:sym typeface="Consolas"/>
              </a:rPr>
              <a:t>out</a:t>
            </a:r>
            <a:r>
              <a:rPr lang="en-US" b="false" i="false" strike="noStrike" u="none" sz="1100">
                <a:solidFill>
                  <a:srgbClr val="ABB2BF"/>
                </a:solidFill>
                <a:latin typeface="Consolas"/>
                <a:ea typeface="Consolas"/>
                <a:cs typeface="Consolas"/>
                <a:sym typeface="Consolas"/>
              </a:rPr>
              <a:t>.print("这是使用out.print输出的文本。&lt;br&gt;");</a:t>
            </a:r>
            <a:r>
              <a:rPr lang="en-US" b="false" i="false" strike="noStrike" u="none" sz="1100">
                <a:solidFill>
                  <a:srgbClr val="1F2329"/>
                </a:solidFill>
                <a:latin typeface="Consolas"/>
                <a:ea typeface="Consolas"/>
                <a:cs typeface="Consolas"/>
                <a:sym typeface="Consolas"/>
              </a:rPr>
              <a:t/>
            </a:r>
          </a:p>
          <a:p>
            <a:pPr algn="l" marL="0" indent="0">
              <a:lnSpc>
                <a:spcPct val="108333"/>
              </a:lnSpc>
            </a:pPr>
            <a:r>
              <a:rPr lang="en-US" b="false" i="false" strike="noStrike" u="none" sz="1100">
                <a:solidFill>
                  <a:srgbClr val="ABB2BF"/>
                </a:solidFill>
                <a:latin typeface="Consolas"/>
                <a:ea typeface="Consolas"/>
                <a:cs typeface="Consolas"/>
                <a:sym typeface="Consolas"/>
              </a:rPr>
              <a:t>// 动态生成列表逻辑</a:t>
            </a:r>
            <a:r>
              <a:rPr lang="en-US" b="false" i="false" strike="noStrike" u="none" sz="1100">
                <a:solidFill>
                  <a:srgbClr val="1F2329"/>
                </a:solidFill>
                <a:latin typeface="Consolas"/>
                <a:ea typeface="Consolas"/>
                <a:cs typeface="Consolas"/>
                <a:sym typeface="Consolas"/>
              </a:rPr>
              <a:t/>
            </a:r>
          </a:p>
          <a:p>
            <a:pPr algn="l" marL="0" indent="0">
              <a:lnSpc>
                <a:spcPct val="108333"/>
              </a:lnSpc>
            </a:pPr>
            <a:r>
              <a:rPr lang="en-US" b="false" i="false" strike="noStrike" u="none" sz="1100">
                <a:solidFill>
                  <a:srgbClr val="61AFEF"/>
                </a:solidFill>
                <a:latin typeface="Consolas"/>
                <a:ea typeface="Consolas"/>
                <a:cs typeface="Consolas"/>
                <a:sym typeface="Consolas"/>
              </a:rPr>
              <a:t>for</a:t>
            </a:r>
            <a:r>
              <a:rPr lang="en-US" b="false" i="false" strike="noStrike" u="none" sz="1100">
                <a:solidFill>
                  <a:srgbClr val="ABB2BF"/>
                </a:solidFill>
                <a:latin typeface="Consolas"/>
                <a:ea typeface="Consolas"/>
                <a:cs typeface="Consolas"/>
                <a:sym typeface="Consolas"/>
              </a:rPr>
              <a:t>(</a:t>
            </a:r>
            <a:r>
              <a:rPr lang="en-US" b="false" i="false" strike="noStrike" u="none" sz="1100">
                <a:solidFill>
                  <a:srgbClr val="E5C07B"/>
                </a:solidFill>
                <a:latin typeface="Consolas"/>
                <a:ea typeface="Consolas"/>
                <a:cs typeface="Consolas"/>
                <a:sym typeface="Consolas"/>
              </a:rPr>
              <a:t>int</a:t>
            </a:r>
            <a:r>
              <a:rPr lang="en-US" b="false" i="false" strike="noStrike" u="none" sz="1100">
                <a:solidFill>
                  <a:srgbClr val="ABB2BF"/>
                </a:solidFill>
                <a:latin typeface="Consolas"/>
                <a:ea typeface="Consolas"/>
                <a:cs typeface="Consolas"/>
                <a:sym typeface="Consolas"/>
              </a:rPr>
              <a:t>i = 1; i &lt;= 5; i++) {</a:t>
            </a:r>
            <a:r>
              <a:rPr lang="en-US" b="false" i="false" strike="noStrike" u="none" sz="1100">
                <a:solidFill>
                  <a:srgbClr val="61AFEF"/>
                </a:solidFill>
                <a:latin typeface="Consolas"/>
                <a:ea typeface="Consolas"/>
                <a:cs typeface="Consolas"/>
                <a:sym typeface="Consolas"/>
              </a:rPr>
              <a:t>out</a:t>
            </a:r>
            <a:r>
              <a:rPr lang="en-US" b="false" i="false" strike="noStrike" u="none" sz="1100">
                <a:solidFill>
                  <a:srgbClr val="ABB2BF"/>
                </a:solidFill>
                <a:latin typeface="Consolas"/>
                <a:ea typeface="Consolas"/>
                <a:cs typeface="Consolas"/>
                <a:sym typeface="Consolas"/>
              </a:rPr>
              <a:t>.println("&lt;li&gt;数字 " + i + "&lt;/li&gt;"); }</a:t>
            </a:r>
            <a:r>
              <a:rPr lang="en-US" b="false" i="false" strike="noStrike" u="none" sz="1100">
                <a:solidFill>
                  <a:srgbClr val="1F2329"/>
                </a:solidFill>
                <a:latin typeface="Consolas"/>
                <a:ea typeface="Consolas"/>
                <a:cs typeface="Consolas"/>
                <a:sym typeface="Consolas"/>
              </a:rPr>
              <a:t/>
            </a:r>
          </a:p>
          <a:p>
            <a:pPr algn="l" marL="0" indent="0">
              <a:lnSpc>
                <a:spcPct val="108333"/>
              </a:lnSpc>
            </a:pPr>
            <a:r>
              <a:rPr lang="en-US" b="false" i="false" strike="noStrike" u="none" sz="1100">
                <a:solidFill>
                  <a:srgbClr val="61AFEF"/>
                </a:solidFill>
                <a:latin typeface="Consolas"/>
                <a:ea typeface="Consolas"/>
                <a:cs typeface="Consolas"/>
                <a:sym typeface="Consolas"/>
              </a:rPr>
              <a:t>&lt;%</a:t>
            </a:r>
            <a:r>
              <a:rPr lang="en-US" b="false" i="false" strike="noStrike" u="none" sz="1100">
                <a:solidFill>
                  <a:srgbClr val="ABB2BF"/>
                </a:solidFill>
                <a:latin typeface="Consolas"/>
                <a:ea typeface="Consolas"/>
                <a:cs typeface="Consolas"/>
                <a:sym typeface="Consolas"/>
              </a:rPr>
              <a:t>&gt;&lt;/body&gt;&lt;/html&gt;</a:t>
            </a:r>
          </a:p>
        </p:txBody>
      </p:sp>
      <p:sp>
        <p:nvSpPr>
          <p:cNvPr name="AutoShape 16" id="16"/>
          <p:cNvSpPr/>
          <p:nvPr/>
        </p:nvSpPr>
        <p:spPr>
          <a:xfrm rot="0" flipH="false" flipV="false">
            <a:off x="5651500" y="4699000"/>
            <a:ext cx="3048000" cy="1651000"/>
          </a:xfrm>
          <a:prstGeom prst="roundRect">
            <a:avLst>
              <a:gd name="adj" fmla="val 0"/>
            </a:avLst>
          </a:prstGeom>
          <a:solidFill>
            <a:srgbClr val="FFFFFF">
              <a:alpha val="93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651500" y="4699000"/>
            <a:ext cx="3048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778500" y="4851400"/>
            <a:ext cx="279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5803D"/>
                </a:solidFill>
                <a:latin typeface="Noto Sans SC"/>
                <a:ea typeface="Noto Sans SC"/>
                <a:cs typeface="Noto Sans SC"/>
                <a:sym typeface="Noto Sans SC"/>
              </a:rPr>
              <a:t>输出文本与标签</a:t>
            </a:r>
            <a:endParaRPr lang="en-US" sz="1100"/>
          </a:p>
        </p:txBody>
      </p:sp>
      <p:sp>
        <p:nvSpPr>
          <p:cNvPr name="AutoShape 19" id="19"/>
          <p:cNvSpPr/>
          <p:nvPr/>
        </p:nvSpPr>
        <p:spPr>
          <a:xfrm rot="0" flipH="false" flipV="false">
            <a:off x="5778500" y="5270500"/>
            <a:ext cx="2794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利用 out 对象的 print/println 方法，直接向浏览器输出静态内容。支持混合编写 HTML 标签，使后端逻辑能直接控制前端的页面结构呈现。</a:t>
            </a:r>
            <a:endParaRPr lang="en-US" sz="1100"/>
          </a:p>
        </p:txBody>
      </p:sp>
      <p:sp>
        <p:nvSpPr>
          <p:cNvPr name="AutoShape 20" id="20"/>
          <p:cNvSpPr/>
          <p:nvPr/>
        </p:nvSpPr>
        <p:spPr>
          <a:xfrm rot="0" flipH="false" flipV="false">
            <a:off x="8890000" y="4699000"/>
            <a:ext cx="3048000" cy="1651000"/>
          </a:xfrm>
          <a:prstGeom prst="roundRect">
            <a:avLst>
              <a:gd name="adj" fmla="val 0"/>
            </a:avLst>
          </a:prstGeom>
          <a:solidFill>
            <a:srgbClr val="FFFFFF">
              <a:alpha val="93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890000" y="4699000"/>
            <a:ext cx="3048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017000" y="4851400"/>
            <a:ext cx="279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5803D"/>
                </a:solidFill>
                <a:latin typeface="Noto Sans SC"/>
                <a:ea typeface="Noto Sans SC"/>
                <a:cs typeface="Noto Sans SC"/>
                <a:sym typeface="Noto Sans SC"/>
              </a:rPr>
              <a:t>后端逻辑驱动</a:t>
            </a:r>
            <a:endParaRPr lang="en-US" sz="1100"/>
          </a:p>
        </p:txBody>
      </p:sp>
      <p:sp>
        <p:nvSpPr>
          <p:cNvPr name="AutoShape 23" id="23"/>
          <p:cNvSpPr/>
          <p:nvPr/>
        </p:nvSpPr>
        <p:spPr>
          <a:xfrm rot="0" flipH="false" flipV="false">
            <a:off x="9017000" y="5270500"/>
            <a:ext cx="2794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将 Java 核心语法（如循环、判断）嵌入脚本中，在服务端实时计算并生成动态 HTML 元素，让页面内容随数据变化而自动更新。</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04. 深入理解：缓冲区与最佳实践</a:t>
            </a:r>
            <a:endParaRPr lang="en-US" sz="1100"/>
          </a:p>
        </p:txBody>
      </p:sp>
      <p:sp>
        <p:nvSpPr>
          <p:cNvPr name="AutoShape 4" id="4"/>
          <p:cNvSpPr/>
          <p:nvPr/>
        </p:nvSpPr>
        <p:spPr>
          <a:xfrm rot="0" flipH="false" flipV="false">
            <a:off x="762000" y="1397000"/>
            <a:ext cx="3619500" cy="2540000"/>
          </a:xfrm>
          <a:prstGeom prst="roundRect">
            <a:avLst>
              <a:gd name="adj" fmla="val 0"/>
            </a:avLst>
          </a:prstGeom>
          <a:solidFill>
            <a:srgbClr val="F5FCF7">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36195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587500"/>
            <a:ext cx="3238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核心概念：输出缓冲区 (Buffer)</a:t>
            </a:r>
            <a:endParaRPr lang="en-US" sz="1100"/>
          </a:p>
        </p:txBody>
      </p:sp>
      <p:sp>
        <p:nvSpPr>
          <p:cNvPr name="AutoShape 7" id="7"/>
          <p:cNvSpPr/>
          <p:nvPr/>
        </p:nvSpPr>
        <p:spPr>
          <a:xfrm rot="0" flipH="false" flipV="false">
            <a:off x="952500" y="2159000"/>
            <a:ext cx="3238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out 对象内部维护的内存区域，数据不会被立即发送至客户端，而是先临时存储在此容器中，形成“批量处理”的机制。</a:t>
            </a:r>
            <a:endParaRPr lang="en-US" sz="1100"/>
          </a:p>
        </p:txBody>
      </p:sp>
      <p:sp>
        <p:nvSpPr>
          <p:cNvPr name="AutoShape 8" id="8"/>
          <p:cNvSpPr/>
          <p:nvPr/>
        </p:nvSpPr>
        <p:spPr>
          <a:xfrm rot="0" flipH="false" flipV="false">
            <a:off x="952500" y="3111500"/>
            <a:ext cx="3238500" cy="7620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79500" y="3175000"/>
            <a:ext cx="2984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15803D"/>
                </a:solidFill>
                <a:latin typeface="Noto Sans SC"/>
                <a:ea typeface="Noto Sans SC"/>
                <a:cs typeface="Noto Sans SC"/>
                <a:sym typeface="Noto Sans SC"/>
              </a:rPr>
              <a:t>核心价值：</a:t>
            </a:r>
            <a:r>
              <a:rPr lang="en-US" b="false" i="false" strike="noStrike" u="none" sz="1200">
                <a:solidFill>
                  <a:srgbClr val="166534">
                    <a:alpha val="90196"/>
                  </a:srgbClr>
                </a:solidFill>
                <a:latin typeface="Noto Sans SC"/>
                <a:ea typeface="Noto Sans SC"/>
                <a:cs typeface="Noto Sans SC"/>
                <a:sym typeface="Noto Sans SC"/>
              </a:rPr>
              <a:t>减少底层网络I/O请求次数，大幅提升数据输出的整体传输效率。</a:t>
            </a:r>
            <a:endParaRPr lang="en-US" sz="1100"/>
          </a:p>
        </p:txBody>
      </p:sp>
      <p:sp>
        <p:nvSpPr>
          <p:cNvPr name="AutoShape 10" id="10"/>
          <p:cNvSpPr/>
          <p:nvPr/>
        </p:nvSpPr>
        <p:spPr>
          <a:xfrm rot="0" flipH="false" flipV="false">
            <a:off x="4572000" y="1397000"/>
            <a:ext cx="3619500" cy="2540000"/>
          </a:xfrm>
          <a:prstGeom prst="roundRect">
            <a:avLst>
              <a:gd name="adj" fmla="val 0"/>
            </a:avLst>
          </a:prstGeom>
          <a:solidFill>
            <a:srgbClr val="F5FCF7">
              <a:alpha val="92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572000" y="1397000"/>
            <a:ext cx="36195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762500" y="1587500"/>
            <a:ext cx="3238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关键机制：缓冲区刷新时刻</a:t>
            </a:r>
            <a:endParaRPr lang="en-US" sz="1100"/>
          </a:p>
        </p:txBody>
      </p:sp>
      <p:sp>
        <p:nvSpPr>
          <p:cNvPr name="AutoShape 13" id="13"/>
          <p:cNvSpPr/>
          <p:nvPr/>
        </p:nvSpPr>
        <p:spPr>
          <a:xfrm rot="0" flipH="false" flipV="false">
            <a:off x="4762500" y="2159000"/>
            <a:ext cx="1549400" cy="762000"/>
          </a:xfrm>
          <a:prstGeom prst="roundRect">
            <a:avLst>
              <a:gd name="adj" fmla="val 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826000" y="2222500"/>
            <a:ext cx="14224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333333"/>
                </a:solidFill>
                <a:latin typeface="Noto Sans SC"/>
                <a:ea typeface="Noto Sans SC"/>
                <a:cs typeface="Noto Sans SC"/>
                <a:sym typeface="Noto Sans SC"/>
              </a:rPr>
              <a:t>容量触顶</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64748B"/>
                </a:solidFill>
                <a:latin typeface="Noto Sans SC"/>
                <a:ea typeface="Noto Sans SC"/>
                <a:cs typeface="Noto Sans SC"/>
                <a:sym typeface="Noto Sans SC"/>
              </a:rPr>
              <a:t>缓冲区数据已满</a:t>
            </a:r>
          </a:p>
        </p:txBody>
      </p:sp>
      <p:sp>
        <p:nvSpPr>
          <p:cNvPr name="AutoShape 15" id="15"/>
          <p:cNvSpPr/>
          <p:nvPr/>
        </p:nvSpPr>
        <p:spPr>
          <a:xfrm rot="0" flipH="false" flipV="false">
            <a:off x="6477000" y="2159000"/>
            <a:ext cx="1549400" cy="762000"/>
          </a:xfrm>
          <a:prstGeom prst="roundRect">
            <a:avLst>
              <a:gd name="adj" fmla="val 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540500" y="2222500"/>
            <a:ext cx="14224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333333"/>
                </a:solidFill>
                <a:latin typeface="Noto Sans SC"/>
                <a:ea typeface="Noto Sans SC"/>
                <a:cs typeface="Noto Sans SC"/>
                <a:sym typeface="Noto Sans SC"/>
              </a:rPr>
              <a:t>主动干预</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64748B"/>
                </a:solidFill>
                <a:latin typeface="Noto Sans SC"/>
                <a:ea typeface="Noto Sans SC"/>
                <a:cs typeface="Noto Sans SC"/>
                <a:sym typeface="Noto Sans SC"/>
              </a:rPr>
              <a:t>调用 flush() 方法</a:t>
            </a:r>
          </a:p>
        </p:txBody>
      </p:sp>
      <p:sp>
        <p:nvSpPr>
          <p:cNvPr name="AutoShape 17" id="17"/>
          <p:cNvSpPr/>
          <p:nvPr/>
        </p:nvSpPr>
        <p:spPr>
          <a:xfrm rot="0" flipH="false" flipV="false">
            <a:off x="4762500" y="3048000"/>
            <a:ext cx="1549400" cy="825500"/>
          </a:xfrm>
          <a:prstGeom prst="roundRect">
            <a:avLst>
              <a:gd name="adj" fmla="val 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826000" y="3111500"/>
            <a:ext cx="1422400" cy="698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333333"/>
                </a:solidFill>
                <a:latin typeface="Noto Sans SC"/>
                <a:ea typeface="Noto Sans SC"/>
                <a:cs typeface="Noto Sans SC"/>
                <a:sym typeface="Noto Sans SC"/>
              </a:rPr>
              <a:t>生命周期结束</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64748B"/>
                </a:solidFill>
                <a:latin typeface="Noto Sans SC"/>
                <a:ea typeface="Noto Sans SC"/>
                <a:cs typeface="Noto Sans SC"/>
                <a:sym typeface="Noto Sans SC"/>
              </a:rPr>
              <a:t>页面执行完毕自动刷出</a:t>
            </a:r>
          </a:p>
        </p:txBody>
      </p:sp>
      <p:sp>
        <p:nvSpPr>
          <p:cNvPr name="AutoShape 19" id="19"/>
          <p:cNvSpPr/>
          <p:nvPr/>
        </p:nvSpPr>
        <p:spPr>
          <a:xfrm rot="0" flipH="false" flipV="false">
            <a:off x="6477000" y="3048000"/>
            <a:ext cx="1549400" cy="825500"/>
          </a:xfrm>
          <a:prstGeom prst="roundRect">
            <a:avLst>
              <a:gd name="adj" fmla="val 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540500" y="3111500"/>
            <a:ext cx="1422400" cy="698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333333"/>
                </a:solidFill>
                <a:latin typeface="Noto Sans SC"/>
                <a:ea typeface="Noto Sans SC"/>
                <a:cs typeface="Noto Sans SC"/>
                <a:sym typeface="Noto Sans SC"/>
              </a:rPr>
              <a:t>强制刷出</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64748B"/>
                </a:solidFill>
                <a:latin typeface="Noto Sans SC"/>
                <a:ea typeface="Noto Sans SC"/>
                <a:cs typeface="Noto Sans SC"/>
                <a:sym typeface="Noto Sans SC"/>
              </a:rPr>
              <a:t>flushBuffer() 调用</a:t>
            </a:r>
          </a:p>
        </p:txBody>
      </p:sp>
      <p:sp>
        <p:nvSpPr>
          <p:cNvPr name="AutoShape 21" id="21"/>
          <p:cNvSpPr/>
          <p:nvPr/>
        </p:nvSpPr>
        <p:spPr>
          <a:xfrm rot="0" flipH="false" flipV="false">
            <a:off x="8382000" y="1397000"/>
            <a:ext cx="3492500" cy="2540000"/>
          </a:xfrm>
          <a:prstGeom prst="roundRect">
            <a:avLst>
              <a:gd name="adj" fmla="val 0"/>
            </a:avLst>
          </a:prstGeom>
          <a:solidFill>
            <a:srgbClr val="22C55E">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572500" y="1587500"/>
            <a:ext cx="311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为什么需要缓冲区？</a:t>
            </a:r>
            <a:endParaRPr lang="en-US" sz="1100"/>
          </a:p>
        </p:txBody>
      </p:sp>
      <p:sp>
        <p:nvSpPr>
          <p:cNvPr name="AutoShape 23" id="23"/>
          <p:cNvSpPr/>
          <p:nvPr/>
        </p:nvSpPr>
        <p:spPr>
          <a:xfrm rot="0" flipH="false" flipV="false">
            <a:off x="8572500" y="2159000"/>
            <a:ext cx="3111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0FDF4">
                    <a:alpha val="98039"/>
                  </a:srgbClr>
                </a:solidFill>
                <a:latin typeface="Noto Sans SC"/>
                <a:ea typeface="Noto Sans SC"/>
                <a:cs typeface="Noto Sans SC"/>
                <a:sym typeface="Noto Sans SC"/>
              </a:rPr>
              <a:t>网络通信的成本远高于内存操作。通过缓冲区将多次小数据的输出合并为一次大数据块的传输，能显著减少服务器开销并加速响应。</a:t>
            </a:r>
            <a:endParaRPr lang="en-US" sz="1100"/>
          </a:p>
        </p:txBody>
      </p:sp>
      <p:sp>
        <p:nvSpPr>
          <p:cNvPr name="AutoShape 24" id="24"/>
          <p:cNvSpPr/>
          <p:nvPr/>
        </p:nvSpPr>
        <p:spPr>
          <a:xfrm rot="0" flipH="false" flipV="false">
            <a:off x="8572500" y="3111500"/>
            <a:ext cx="3111500" cy="762000"/>
          </a:xfrm>
          <a:prstGeom prst="roundRect">
            <a:avLst>
              <a:gd name="adj" fmla="val 0"/>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636000" y="3175000"/>
            <a:ext cx="29845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“以空间换时间”的经典策略</a:t>
            </a:r>
            <a:endParaRPr lang="en-US" sz="1100"/>
          </a:p>
        </p:txBody>
      </p:sp>
      <p:sp>
        <p:nvSpPr>
          <p:cNvPr name="AutoShape 26" id="26"/>
          <p:cNvSpPr/>
          <p:nvPr/>
        </p:nvSpPr>
        <p:spPr>
          <a:xfrm rot="0" flipH="false" flipV="false">
            <a:off x="762000" y="4191000"/>
            <a:ext cx="11112500" cy="22225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25500" y="4318000"/>
            <a:ext cx="2082800" cy="1968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825500" y="4318000"/>
            <a:ext cx="2082800" cy="381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914400" y="4470400"/>
            <a:ext cx="1905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5803D"/>
                </a:solidFill>
                <a:latin typeface="Noto Sans SC"/>
                <a:ea typeface="Noto Sans SC"/>
                <a:cs typeface="Noto Sans SC"/>
                <a:sym typeface="Noto Sans SC"/>
              </a:rPr>
              <a:t>代码职责分离</a:t>
            </a:r>
            <a:endParaRPr lang="en-US" sz="1100"/>
          </a:p>
        </p:txBody>
      </p:sp>
      <p:sp>
        <p:nvSpPr>
          <p:cNvPr name="AutoShape 30" id="30"/>
          <p:cNvSpPr/>
          <p:nvPr/>
        </p:nvSpPr>
        <p:spPr>
          <a:xfrm rot="0" flipH="false" flipV="false">
            <a:off x="914400" y="4953000"/>
            <a:ext cx="190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拒绝在Java代码中混杂大量HTML输出。推荐使用JSTL标签与EL表达式，让视图与逻辑解耦，提升可维护性。</a:t>
            </a:r>
            <a:endParaRPr lang="en-US" sz="1100"/>
          </a:p>
        </p:txBody>
      </p:sp>
      <p:cxnSp>
        <p:nvCxnSpPr>
          <p:cNvPr name="Connector 31" id="31"/>
          <p:cNvCxnSpPr/>
          <p:nvPr/>
        </p:nvCxnSpPr>
        <p:spPr>
          <a:xfrm rot="5375445" flipH="false" flipV="false">
            <a:off x="2070100" y="5264173"/>
            <a:ext cx="1778000" cy="12700"/>
          </a:xfrm>
          <a:prstGeom prst="straightConnector1">
            <a:avLst/>
          </a:prstGeom>
          <a:solidFill>
            <a:srgbClr val="DEE0E3">
              <a:alpha val="100000"/>
            </a:srgbClr>
          </a:solidFill>
          <a:ln w="12700" cmpd="sng" cap="flat">
            <a:solidFill>
              <a:srgbClr val="22C55E">
                <a:alpha val="15000"/>
              </a:srgbClr>
            </a:solidFill>
            <a:prstDash val="solid"/>
            <a:round/>
            <a:headEnd type="none" w="med" len="med"/>
            <a:tailEnd type="none" w="med" len="med"/>
          </a:ln>
        </p:spPr>
      </p:cxnSp>
      <p:sp>
        <p:nvSpPr>
          <p:cNvPr name="AutoShape 32" id="32"/>
          <p:cNvSpPr/>
          <p:nvPr/>
        </p:nvSpPr>
        <p:spPr>
          <a:xfrm rot="0" flipH="false" flipV="false">
            <a:off x="2997200" y="4318000"/>
            <a:ext cx="2082800" cy="1968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2997200" y="4318000"/>
            <a:ext cx="2082800" cy="381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3086100" y="4470400"/>
            <a:ext cx="1905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5803D"/>
                </a:solidFill>
                <a:latin typeface="Noto Sans SC"/>
                <a:ea typeface="Noto Sans SC"/>
                <a:cs typeface="Noto Sans SC"/>
                <a:sym typeface="Noto Sans SC"/>
              </a:rPr>
              <a:t>慎用 flush 操作</a:t>
            </a:r>
            <a:endParaRPr lang="en-US" sz="1100"/>
          </a:p>
        </p:txBody>
      </p:sp>
      <p:sp>
        <p:nvSpPr>
          <p:cNvPr name="AutoShape 35" id="35"/>
          <p:cNvSpPr/>
          <p:nvPr/>
        </p:nvSpPr>
        <p:spPr>
          <a:xfrm rot="0" flipH="false" flipV="false">
            <a:off x="3086100" y="4953000"/>
            <a:ext cx="190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每次 flush 都会触发一次实际的网络发送。频繁手动刷新会破坏缓冲机制，导致性能下降，应仅在必要时使用。</a:t>
            </a:r>
            <a:endParaRPr lang="en-US" sz="1100"/>
          </a:p>
        </p:txBody>
      </p:sp>
      <p:cxnSp>
        <p:nvCxnSpPr>
          <p:cNvPr name="Connector 36" id="36"/>
          <p:cNvCxnSpPr/>
          <p:nvPr/>
        </p:nvCxnSpPr>
        <p:spPr>
          <a:xfrm rot="5375445" flipH="false" flipV="false">
            <a:off x="4241800" y="5264173"/>
            <a:ext cx="1778000" cy="12700"/>
          </a:xfrm>
          <a:prstGeom prst="straightConnector1">
            <a:avLst/>
          </a:prstGeom>
          <a:solidFill>
            <a:srgbClr val="DEE0E3">
              <a:alpha val="100000"/>
            </a:srgbClr>
          </a:solidFill>
          <a:ln w="12700" cmpd="sng" cap="flat">
            <a:solidFill>
              <a:srgbClr val="22C55E">
                <a:alpha val="15000"/>
              </a:srgbClr>
            </a:solidFill>
            <a:prstDash val="solid"/>
            <a:round/>
            <a:headEnd type="none" w="med" len="med"/>
            <a:tailEnd type="none" w="med" len="med"/>
          </a:ln>
        </p:spPr>
      </p:cxnSp>
      <p:sp>
        <p:nvSpPr>
          <p:cNvPr name="AutoShape 37" id="37"/>
          <p:cNvSpPr/>
          <p:nvPr/>
        </p:nvSpPr>
        <p:spPr>
          <a:xfrm rot="0" flipH="false" flipV="false">
            <a:off x="5168900" y="4318000"/>
            <a:ext cx="2082800" cy="1968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5168900" y="4318000"/>
            <a:ext cx="2082800" cy="381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5257800" y="4470400"/>
            <a:ext cx="1905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5803D"/>
                </a:solidFill>
                <a:latin typeface="Noto Sans SC"/>
                <a:ea typeface="Noto Sans SC"/>
                <a:cs typeface="Noto Sans SC"/>
                <a:sym typeface="Noto Sans SC"/>
              </a:rPr>
              <a:t>流关闭规范</a:t>
            </a:r>
            <a:endParaRPr lang="en-US" sz="1100"/>
          </a:p>
        </p:txBody>
      </p:sp>
      <p:sp>
        <p:nvSpPr>
          <p:cNvPr name="AutoShape 40" id="40"/>
          <p:cNvSpPr/>
          <p:nvPr/>
        </p:nvSpPr>
        <p:spPr>
          <a:xfrm rot="0" flipH="false" flipV="false">
            <a:off x="5257800" y="4953000"/>
            <a:ext cx="190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容器会自动管理 out 对象的关闭。开发者切勿在 close() 方法之后尝试输出数据，这会导致 IOException 运行时异常。</a:t>
            </a:r>
            <a:endParaRPr lang="en-US" sz="1100"/>
          </a:p>
        </p:txBody>
      </p:sp>
      <p:cxnSp>
        <p:nvCxnSpPr>
          <p:cNvPr name="Connector 41" id="41"/>
          <p:cNvCxnSpPr/>
          <p:nvPr/>
        </p:nvCxnSpPr>
        <p:spPr>
          <a:xfrm rot="5375445" flipH="false" flipV="false">
            <a:off x="6413500" y="5264173"/>
            <a:ext cx="1778000" cy="12700"/>
          </a:xfrm>
          <a:prstGeom prst="straightConnector1">
            <a:avLst/>
          </a:prstGeom>
          <a:solidFill>
            <a:srgbClr val="DEE0E3">
              <a:alpha val="100000"/>
            </a:srgbClr>
          </a:solidFill>
          <a:ln w="12700" cmpd="sng" cap="flat">
            <a:solidFill>
              <a:srgbClr val="22C55E">
                <a:alpha val="15000"/>
              </a:srgbClr>
            </a:solidFill>
            <a:prstDash val="solid"/>
            <a:round/>
            <a:headEnd type="none" w="med" len="med"/>
            <a:tailEnd type="none" w="med" len="med"/>
          </a:ln>
        </p:spPr>
      </p:cxnSp>
      <p:sp>
        <p:nvSpPr>
          <p:cNvPr name="AutoShape 42" id="42"/>
          <p:cNvSpPr/>
          <p:nvPr/>
        </p:nvSpPr>
        <p:spPr>
          <a:xfrm rot="0" flipH="false" flipV="false">
            <a:off x="7340600" y="4318000"/>
            <a:ext cx="2082800" cy="1968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7340600" y="4318000"/>
            <a:ext cx="2082800" cy="381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7429500" y="4470400"/>
            <a:ext cx="1905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5803D"/>
                </a:solidFill>
                <a:latin typeface="Noto Sans SC"/>
                <a:ea typeface="Noto Sans SC"/>
                <a:cs typeface="Noto Sans SC"/>
                <a:sym typeface="Noto Sans SC"/>
              </a:rPr>
              <a:t>异常处理意识</a:t>
            </a:r>
            <a:endParaRPr lang="en-US" sz="1100"/>
          </a:p>
        </p:txBody>
      </p:sp>
      <p:sp>
        <p:nvSpPr>
          <p:cNvPr name="AutoShape 45" id="45"/>
          <p:cNvSpPr/>
          <p:nvPr/>
        </p:nvSpPr>
        <p:spPr>
          <a:xfrm rot="0" flipH="false" flipV="false">
            <a:off x="7429500" y="4953000"/>
            <a:ext cx="190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JspWriter 的底层操作可能抛出 IO 异常。在编写自定义标签或复杂逻辑时，必须做好 try-catch 捕获或声明抛出。</a:t>
            </a:r>
            <a:endParaRPr lang="en-US" sz="1100"/>
          </a:p>
        </p:txBody>
      </p:sp>
      <p:cxnSp>
        <p:nvCxnSpPr>
          <p:cNvPr name="Connector 46" id="46"/>
          <p:cNvCxnSpPr/>
          <p:nvPr/>
        </p:nvCxnSpPr>
        <p:spPr>
          <a:xfrm rot="5375445" flipH="false" flipV="false">
            <a:off x="8585200" y="5264173"/>
            <a:ext cx="1778000" cy="12700"/>
          </a:xfrm>
          <a:prstGeom prst="straightConnector1">
            <a:avLst/>
          </a:prstGeom>
          <a:solidFill>
            <a:srgbClr val="DEE0E3">
              <a:alpha val="100000"/>
            </a:srgbClr>
          </a:solidFill>
          <a:ln w="12700" cmpd="sng" cap="flat">
            <a:solidFill>
              <a:srgbClr val="22C55E">
                <a:alpha val="15000"/>
              </a:srgbClr>
            </a:solidFill>
            <a:prstDash val="solid"/>
            <a:round/>
            <a:headEnd type="none" w="med" len="med"/>
            <a:tailEnd type="none" w="med" len="med"/>
          </a:ln>
        </p:spPr>
      </p:cxnSp>
      <p:sp>
        <p:nvSpPr>
          <p:cNvPr name="AutoShape 47" id="47"/>
          <p:cNvSpPr/>
          <p:nvPr/>
        </p:nvSpPr>
        <p:spPr>
          <a:xfrm rot="0" flipH="false" flipV="false">
            <a:off x="9512300" y="4318000"/>
            <a:ext cx="2082800" cy="1968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9512300" y="4318000"/>
            <a:ext cx="2082800" cy="38100"/>
          </a:xfrm>
          <a:prstGeom prst="roundRect">
            <a:avLst>
              <a:gd name="adj" fmla="val 0"/>
            </a:avLst>
          </a:prstGeom>
          <a:solidFill>
            <a:srgbClr val="22C55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9601200" y="4470400"/>
            <a:ext cx="1905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5803D"/>
                </a:solidFill>
                <a:latin typeface="Noto Sans SC"/>
                <a:ea typeface="Noto Sans SC"/>
                <a:cs typeface="Noto Sans SC"/>
                <a:sym typeface="Noto Sans SC"/>
              </a:rPr>
              <a:t>内容类型配置</a:t>
            </a:r>
            <a:endParaRPr lang="en-US" sz="1100"/>
          </a:p>
        </p:txBody>
      </p:sp>
      <p:sp>
        <p:nvSpPr>
          <p:cNvPr name="AutoShape 50" id="50"/>
          <p:cNvSpPr/>
          <p:nvPr/>
        </p:nvSpPr>
        <p:spPr>
          <a:xfrm rot="0" flipH="false" flipV="false">
            <a:off x="9601200" y="4953000"/>
            <a:ext cx="190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第一行设置 contentType="text/html;charset=UTF-8"，确保响应头与实际内容编码一致，彻底避免中文乱码问题。</a:t>
            </a:r>
            <a:endParaRPr lang="en-US" sz="1100"/>
          </a:p>
        </p:txBody>
      </p:sp>
      <p:pic>
        <p:nvPicPr>
          <p:cNvPr name="Picture 51" id="51"/>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{"Label":"1","ContentProducer":"001191110102MACQD9K64010000","ProduceID":"7645991476405275595","ReservedCode1":"","ContentPropagator":"","PropagateID":"","ReservedCode2":""}</vt:lpwstr>
  </property>
</Properties>
</file>