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4748A"/>
                </a:solidFill>
                <a:latin typeface="SimSun"/>
                <a:cs typeface="SimSun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>
                <a:latin typeface="Palatino Linotype"/>
                <a:cs typeface="Palatino Linotype"/>
              </a:rPr>
              <a:t>Java</a:t>
            </a:r>
            <a:r>
              <a:rPr dirty="0" spc="55">
                <a:latin typeface="Palatino Linotype"/>
                <a:cs typeface="Palatino Linotype"/>
              </a:rPr>
              <a:t> </a:t>
            </a:r>
            <a:r>
              <a:rPr dirty="0">
                <a:latin typeface="Palatino Linotype"/>
                <a:cs typeface="Palatino Linotype"/>
              </a:rPr>
              <a:t>Web</a:t>
            </a:r>
            <a:r>
              <a:rPr dirty="0" spc="60">
                <a:latin typeface="Palatino Linotype"/>
                <a:cs typeface="Palatino Linotype"/>
              </a:rPr>
              <a:t> </a:t>
            </a:r>
            <a:r>
              <a:rPr dirty="0" spc="-40"/>
              <a:t>状态管理全景指南 — 开发与架构深度解析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4748A"/>
                </a:solidFill>
                <a:latin typeface="SimSun"/>
                <a:cs typeface="SimSun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100"/>
              <a:t>第 </a:t>
            </a:r>
            <a:fld id="{81D60167-4931-47E6-BA6A-407CBD079E47}" type="slidenum">
              <a:rPr dirty="0"/>
              <a:t>#</a:t>
            </a:fld>
            <a:r>
              <a:rPr dirty="0" spc="-125"/>
              <a:t> 页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4748A"/>
                </a:solidFill>
                <a:latin typeface="SimSun"/>
                <a:cs typeface="SimSun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>
                <a:latin typeface="Palatino Linotype"/>
                <a:cs typeface="Palatino Linotype"/>
              </a:rPr>
              <a:t>Java</a:t>
            </a:r>
            <a:r>
              <a:rPr dirty="0" spc="55">
                <a:latin typeface="Palatino Linotype"/>
                <a:cs typeface="Palatino Linotype"/>
              </a:rPr>
              <a:t> </a:t>
            </a:r>
            <a:r>
              <a:rPr dirty="0">
                <a:latin typeface="Palatino Linotype"/>
                <a:cs typeface="Palatino Linotype"/>
              </a:rPr>
              <a:t>Web</a:t>
            </a:r>
            <a:r>
              <a:rPr dirty="0" spc="60">
                <a:latin typeface="Palatino Linotype"/>
                <a:cs typeface="Palatino Linotype"/>
              </a:rPr>
              <a:t> </a:t>
            </a:r>
            <a:r>
              <a:rPr dirty="0" spc="-40"/>
              <a:t>状态管理全景指南 — 开发与架构深度解析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4748A"/>
                </a:solidFill>
                <a:latin typeface="SimSun"/>
                <a:cs typeface="SimSun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100"/>
              <a:t>第 </a:t>
            </a:r>
            <a:fld id="{81D60167-4931-47E6-BA6A-407CBD079E47}" type="slidenum">
              <a:rPr dirty="0"/>
              <a:t>#</a:t>
            </a:fld>
            <a:r>
              <a:rPr dirty="0" spc="-125"/>
              <a:t> 页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4748A"/>
                </a:solidFill>
                <a:latin typeface="SimSun"/>
                <a:cs typeface="SimSun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>
                <a:latin typeface="Palatino Linotype"/>
                <a:cs typeface="Palatino Linotype"/>
              </a:rPr>
              <a:t>Java</a:t>
            </a:r>
            <a:r>
              <a:rPr dirty="0" spc="55">
                <a:latin typeface="Palatino Linotype"/>
                <a:cs typeface="Palatino Linotype"/>
              </a:rPr>
              <a:t> </a:t>
            </a:r>
            <a:r>
              <a:rPr dirty="0">
                <a:latin typeface="Palatino Linotype"/>
                <a:cs typeface="Palatino Linotype"/>
              </a:rPr>
              <a:t>Web</a:t>
            </a:r>
            <a:r>
              <a:rPr dirty="0" spc="60">
                <a:latin typeface="Palatino Linotype"/>
                <a:cs typeface="Palatino Linotype"/>
              </a:rPr>
              <a:t> </a:t>
            </a:r>
            <a:r>
              <a:rPr dirty="0" spc="-40"/>
              <a:t>状态管理全景指南 — 开发与架构深度解析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4748A"/>
                </a:solidFill>
                <a:latin typeface="SimSun"/>
                <a:cs typeface="SimSun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100"/>
              <a:t>第 </a:t>
            </a:r>
            <a:fld id="{81D60167-4931-47E6-BA6A-407CBD079E47}" type="slidenum">
              <a:rPr dirty="0"/>
              <a:t>#</a:t>
            </a:fld>
            <a:r>
              <a:rPr dirty="0" spc="-125"/>
              <a:t> 页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4748A"/>
                </a:solidFill>
                <a:latin typeface="SimSun"/>
                <a:cs typeface="SimSun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>
                <a:latin typeface="Palatino Linotype"/>
                <a:cs typeface="Palatino Linotype"/>
              </a:rPr>
              <a:t>Java</a:t>
            </a:r>
            <a:r>
              <a:rPr dirty="0" spc="55">
                <a:latin typeface="Palatino Linotype"/>
                <a:cs typeface="Palatino Linotype"/>
              </a:rPr>
              <a:t> </a:t>
            </a:r>
            <a:r>
              <a:rPr dirty="0">
                <a:latin typeface="Palatino Linotype"/>
                <a:cs typeface="Palatino Linotype"/>
              </a:rPr>
              <a:t>Web</a:t>
            </a:r>
            <a:r>
              <a:rPr dirty="0" spc="60">
                <a:latin typeface="Palatino Linotype"/>
                <a:cs typeface="Palatino Linotype"/>
              </a:rPr>
              <a:t> </a:t>
            </a:r>
            <a:r>
              <a:rPr dirty="0" spc="-40"/>
              <a:t>状态管理全景指南 — 开发与架构深度解析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4748A"/>
                </a:solidFill>
                <a:latin typeface="SimSun"/>
                <a:cs typeface="SimSun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100"/>
              <a:t>第 </a:t>
            </a:r>
            <a:fld id="{81D60167-4931-47E6-BA6A-407CBD079E47}" type="slidenum">
              <a:rPr dirty="0"/>
              <a:t>#</a:t>
            </a:fld>
            <a:r>
              <a:rPr dirty="0" spc="-125"/>
              <a:t> 页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4748A"/>
                </a:solidFill>
                <a:latin typeface="SimSun"/>
                <a:cs typeface="SimSun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>
                <a:latin typeface="Palatino Linotype"/>
                <a:cs typeface="Palatino Linotype"/>
              </a:rPr>
              <a:t>Java</a:t>
            </a:r>
            <a:r>
              <a:rPr dirty="0" spc="55">
                <a:latin typeface="Palatino Linotype"/>
                <a:cs typeface="Palatino Linotype"/>
              </a:rPr>
              <a:t> </a:t>
            </a:r>
            <a:r>
              <a:rPr dirty="0">
                <a:latin typeface="Palatino Linotype"/>
                <a:cs typeface="Palatino Linotype"/>
              </a:rPr>
              <a:t>Web</a:t>
            </a:r>
            <a:r>
              <a:rPr dirty="0" spc="60">
                <a:latin typeface="Palatino Linotype"/>
                <a:cs typeface="Palatino Linotype"/>
              </a:rPr>
              <a:t> </a:t>
            </a:r>
            <a:r>
              <a:rPr dirty="0" spc="-40"/>
              <a:t>状态管理全景指南 — 开发与架构深度解析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4748A"/>
                </a:solidFill>
                <a:latin typeface="SimSun"/>
                <a:cs typeface="SimSun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100"/>
              <a:t>第 </a:t>
            </a:r>
            <a:fld id="{81D60167-4931-47E6-BA6A-407CBD079E47}" type="slidenum">
              <a:rPr dirty="0"/>
              <a:t>#</a:t>
            </a:fld>
            <a:r>
              <a:rPr dirty="0" spc="-125"/>
              <a:t> 页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560309" cy="10692130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7559999" y="10691999"/>
                </a:moveTo>
                <a:lnTo>
                  <a:pt x="0" y="10691999"/>
                </a:lnTo>
                <a:lnTo>
                  <a:pt x="0" y="0"/>
                </a:lnTo>
                <a:lnTo>
                  <a:pt x="7559999" y="0"/>
                </a:lnTo>
                <a:lnTo>
                  <a:pt x="7559999" y="10691999"/>
                </a:lnTo>
                <a:close/>
              </a:path>
            </a:pathLst>
          </a:custGeom>
          <a:solidFill>
            <a:srgbClr val="F7F9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27299" y="10236975"/>
            <a:ext cx="2680970" cy="190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64748A"/>
                </a:solidFill>
                <a:latin typeface="SimSun"/>
                <a:cs typeface="SimSun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>
                <a:latin typeface="Palatino Linotype"/>
                <a:cs typeface="Palatino Linotype"/>
              </a:rPr>
              <a:t>Java</a:t>
            </a:r>
            <a:r>
              <a:rPr dirty="0" spc="55">
                <a:latin typeface="Palatino Linotype"/>
                <a:cs typeface="Palatino Linotype"/>
              </a:rPr>
              <a:t> </a:t>
            </a:r>
            <a:r>
              <a:rPr dirty="0">
                <a:latin typeface="Palatino Linotype"/>
                <a:cs typeface="Palatino Linotype"/>
              </a:rPr>
              <a:t>Web</a:t>
            </a:r>
            <a:r>
              <a:rPr dirty="0" spc="60">
                <a:latin typeface="Palatino Linotype"/>
                <a:cs typeface="Palatino Linotype"/>
              </a:rPr>
              <a:t> </a:t>
            </a:r>
            <a:r>
              <a:rPr dirty="0" spc="-40"/>
              <a:t>状态管理全景指南 — 开发与架构深度解析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656391" y="10237175"/>
            <a:ext cx="376554" cy="189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64748A"/>
                </a:solidFill>
                <a:latin typeface="SimSun"/>
                <a:cs typeface="SimSun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100"/>
              <a:t>第 </a:t>
            </a:r>
            <a:fld id="{81D60167-4931-47E6-BA6A-407CBD079E47}" type="slidenum">
              <a:rPr dirty="0"/>
              <a:t>#</a:t>
            </a:fld>
            <a:r>
              <a:rPr dirty="0" spc="-125"/>
              <a:t> 页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hyperlink" Target="http://localhost:8080/index.jsp%3Bjsessionid%3DX101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7560309" cy="10692130"/>
            <a:chOff x="0" y="0"/>
            <a:chExt cx="7560309" cy="10692130"/>
          </a:xfrm>
        </p:grpSpPr>
        <p:sp>
          <p:nvSpPr>
            <p:cNvPr id="3" name="object 3" descr=""/>
            <p:cNvSpPr/>
            <p:nvPr/>
          </p:nvSpPr>
          <p:spPr>
            <a:xfrm>
              <a:off x="0" y="1784350"/>
              <a:ext cx="7560309" cy="8907780"/>
            </a:xfrm>
            <a:custGeom>
              <a:avLst/>
              <a:gdLst/>
              <a:ahLst/>
              <a:cxnLst/>
              <a:rect l="l" t="t" r="r" b="b"/>
              <a:pathLst>
                <a:path w="7560309" h="8907780">
                  <a:moveTo>
                    <a:pt x="0" y="8907650"/>
                  </a:moveTo>
                  <a:lnTo>
                    <a:pt x="7559999" y="8907650"/>
                  </a:lnTo>
                  <a:lnTo>
                    <a:pt x="7559999" y="0"/>
                  </a:lnTo>
                  <a:lnTo>
                    <a:pt x="0" y="0"/>
                  </a:lnTo>
                  <a:lnTo>
                    <a:pt x="0" y="890765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0"/>
              <a:ext cx="7560309" cy="1784350"/>
            </a:xfrm>
            <a:custGeom>
              <a:avLst/>
              <a:gdLst/>
              <a:ahLst/>
              <a:cxnLst/>
              <a:rect l="l" t="t" r="r" b="b"/>
              <a:pathLst>
                <a:path w="7560309" h="1784350">
                  <a:moveTo>
                    <a:pt x="7559999" y="1784349"/>
                  </a:moveTo>
                  <a:lnTo>
                    <a:pt x="0" y="1784349"/>
                  </a:lnTo>
                  <a:lnTo>
                    <a:pt x="0" y="0"/>
                  </a:lnTo>
                  <a:lnTo>
                    <a:pt x="7559999" y="0"/>
                  </a:lnTo>
                  <a:lnTo>
                    <a:pt x="7559999" y="1784349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40000" y="2070100"/>
              <a:ext cx="38100" cy="284480"/>
            </a:xfrm>
            <a:custGeom>
              <a:avLst/>
              <a:gdLst/>
              <a:ahLst/>
              <a:cxnLst/>
              <a:rect l="l" t="t" r="r" b="b"/>
              <a:pathLst>
                <a:path w="38100" h="284480">
                  <a:moveTo>
                    <a:pt x="38100" y="284480"/>
                  </a:moveTo>
                  <a:lnTo>
                    <a:pt x="0" y="284480"/>
                  </a:lnTo>
                  <a:lnTo>
                    <a:pt x="0" y="0"/>
                  </a:lnTo>
                  <a:lnTo>
                    <a:pt x="38100" y="0"/>
                  </a:lnTo>
                  <a:lnTo>
                    <a:pt x="38100" y="284480"/>
                  </a:lnTo>
                  <a:close/>
                </a:path>
              </a:pathLst>
            </a:custGeom>
            <a:solidFill>
              <a:srgbClr val="018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40000" y="3280410"/>
              <a:ext cx="6480175" cy="2879090"/>
            </a:xfrm>
            <a:custGeom>
              <a:avLst/>
              <a:gdLst/>
              <a:ahLst/>
              <a:cxnLst/>
              <a:rect l="l" t="t" r="r" b="b"/>
              <a:pathLst>
                <a:path w="6480175" h="2879090">
                  <a:moveTo>
                    <a:pt x="6441900" y="2879015"/>
                  </a:moveTo>
                  <a:lnTo>
                    <a:pt x="0" y="2879015"/>
                  </a:lnTo>
                  <a:lnTo>
                    <a:pt x="0" y="0"/>
                  </a:lnTo>
                  <a:lnTo>
                    <a:pt x="6441900" y="0"/>
                  </a:lnTo>
                  <a:lnTo>
                    <a:pt x="6456693" y="3006"/>
                  </a:lnTo>
                  <a:lnTo>
                    <a:pt x="6468808" y="11191"/>
                  </a:lnTo>
                  <a:lnTo>
                    <a:pt x="6476993" y="23306"/>
                  </a:lnTo>
                  <a:lnTo>
                    <a:pt x="6480000" y="38100"/>
                  </a:lnTo>
                  <a:lnTo>
                    <a:pt x="6480000" y="2840915"/>
                  </a:lnTo>
                  <a:lnTo>
                    <a:pt x="6476993" y="2855708"/>
                  </a:lnTo>
                  <a:lnTo>
                    <a:pt x="6468808" y="2867823"/>
                  </a:lnTo>
                  <a:lnTo>
                    <a:pt x="6456693" y="2876008"/>
                  </a:lnTo>
                  <a:lnTo>
                    <a:pt x="6441900" y="2879015"/>
                  </a:lnTo>
                  <a:close/>
                </a:path>
              </a:pathLst>
            </a:custGeom>
            <a:solidFill>
              <a:srgbClr val="EFF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39991" y="3280419"/>
              <a:ext cx="38100" cy="3449320"/>
            </a:xfrm>
            <a:custGeom>
              <a:avLst/>
              <a:gdLst/>
              <a:ahLst/>
              <a:cxnLst/>
              <a:rect l="l" t="t" r="r" b="b"/>
              <a:pathLst>
                <a:path w="38100" h="3449320">
                  <a:moveTo>
                    <a:pt x="38100" y="3164763"/>
                  </a:moveTo>
                  <a:lnTo>
                    <a:pt x="0" y="3164763"/>
                  </a:lnTo>
                  <a:lnTo>
                    <a:pt x="0" y="3449243"/>
                  </a:lnTo>
                  <a:lnTo>
                    <a:pt x="38100" y="3449243"/>
                  </a:lnTo>
                  <a:lnTo>
                    <a:pt x="38100" y="3164763"/>
                  </a:lnTo>
                  <a:close/>
                </a:path>
                <a:path w="38100" h="3449320">
                  <a:moveTo>
                    <a:pt x="38100" y="0"/>
                  </a:moveTo>
                  <a:lnTo>
                    <a:pt x="0" y="0"/>
                  </a:lnTo>
                  <a:lnTo>
                    <a:pt x="0" y="2879013"/>
                  </a:lnTo>
                  <a:lnTo>
                    <a:pt x="38100" y="2879013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183C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527299" y="227226"/>
            <a:ext cx="6495415" cy="1261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dirty="0" sz="2200" spc="85" b="1">
                <a:solidFill>
                  <a:srgbClr val="38BCF7"/>
                </a:solidFill>
                <a:latin typeface="Microsoft JhengHei"/>
                <a:cs typeface="Microsoft JhengHei"/>
              </a:rPr>
              <a:t>Java</a:t>
            </a:r>
            <a:r>
              <a:rPr dirty="0" sz="2200" spc="-110" b="1">
                <a:solidFill>
                  <a:srgbClr val="38BCF7"/>
                </a:solidFill>
                <a:latin typeface="Microsoft JhengHei"/>
                <a:cs typeface="Microsoft JhengHei"/>
              </a:rPr>
              <a:t> </a:t>
            </a:r>
            <a:r>
              <a:rPr dirty="0" sz="2200" spc="-120" b="1">
                <a:solidFill>
                  <a:srgbClr val="38BCF7"/>
                </a:solidFill>
                <a:latin typeface="Microsoft JhengHei"/>
                <a:cs typeface="Microsoft JhengHei"/>
              </a:rPr>
              <a:t>Web</a:t>
            </a:r>
            <a:r>
              <a:rPr dirty="0" sz="2200" spc="-55" b="1">
                <a:solidFill>
                  <a:srgbClr val="38BCF7"/>
                </a:solidFill>
                <a:latin typeface="Microsoft JhengHei"/>
                <a:cs typeface="Microsoft JhengHei"/>
              </a:rPr>
              <a:t> 状态管理：</a:t>
            </a:r>
            <a:r>
              <a:rPr dirty="0" sz="2200" spc="-10" b="1">
                <a:solidFill>
                  <a:srgbClr val="38BCF7"/>
                </a:solidFill>
                <a:latin typeface="Microsoft JhengHei"/>
                <a:cs typeface="Microsoft JhengHei"/>
              </a:rPr>
              <a:t>Session</a:t>
            </a:r>
            <a:r>
              <a:rPr dirty="0" sz="2200" spc="-75" b="1">
                <a:solidFill>
                  <a:srgbClr val="38BCF7"/>
                </a:solidFill>
                <a:latin typeface="Microsoft JhengHei"/>
                <a:cs typeface="Microsoft JhengHei"/>
              </a:rPr>
              <a:t> 与 </a:t>
            </a:r>
            <a:r>
              <a:rPr dirty="0" sz="2200" spc="-35" b="1">
                <a:solidFill>
                  <a:srgbClr val="38BCF7"/>
                </a:solidFill>
                <a:latin typeface="Microsoft JhengHei"/>
                <a:cs typeface="Microsoft JhengHei"/>
              </a:rPr>
              <a:t>Cookie</a:t>
            </a:r>
            <a:r>
              <a:rPr dirty="0" sz="2200" spc="-60" b="1">
                <a:solidFill>
                  <a:srgbClr val="38BCF7"/>
                </a:solidFill>
                <a:latin typeface="Microsoft JhengHei"/>
                <a:cs typeface="Microsoft JhengHei"/>
              </a:rPr>
              <a:t> 全景技术指</a:t>
            </a:r>
            <a:r>
              <a:rPr dirty="0" sz="2200" spc="-50" b="1">
                <a:solidFill>
                  <a:srgbClr val="38BCF7"/>
                </a:solidFill>
                <a:latin typeface="Microsoft JhengHei"/>
                <a:cs typeface="Microsoft JhengHei"/>
              </a:rPr>
              <a:t>南</a:t>
            </a:r>
            <a:endParaRPr sz="22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dirty="0" sz="1100" spc="-5">
                <a:solidFill>
                  <a:srgbClr val="93A3B8"/>
                </a:solidFill>
                <a:latin typeface="SimSun"/>
                <a:cs typeface="SimSun"/>
              </a:rPr>
              <a:t>从底层原理、状态机生命周期到分布式演进的完整技术沉淀</a:t>
            </a:r>
            <a:endParaRPr sz="1100">
              <a:latin typeface="SimSun"/>
              <a:cs typeface="SimSun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974" y="3423855"/>
            <a:ext cx="176397" cy="16602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27299" y="2099361"/>
            <a:ext cx="6505575" cy="382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F162A"/>
                </a:solidFill>
                <a:latin typeface="Microsoft JhengHei"/>
                <a:cs typeface="Microsoft JhengHei"/>
              </a:rPr>
              <a:t>1. 通俗白话：到底什么是 </a:t>
            </a:r>
            <a:r>
              <a:rPr dirty="0" sz="1400" spc="-10" b="1">
                <a:solidFill>
                  <a:srgbClr val="0F162A"/>
                </a:solidFill>
                <a:latin typeface="Microsoft JhengHei"/>
                <a:cs typeface="Microsoft JhengHei"/>
              </a:rPr>
              <a:t>Session？</a:t>
            </a:r>
            <a:endParaRPr sz="1400">
              <a:latin typeface="Microsoft JhengHei"/>
              <a:cs typeface="Microsoft JhengHei"/>
            </a:endParaRPr>
          </a:p>
          <a:p>
            <a:pPr algn="just" marL="12700" marR="5080">
              <a:lnSpc>
                <a:spcPct val="133300"/>
              </a:lnSpc>
              <a:spcBef>
                <a:spcPts val="1180"/>
              </a:spcBef>
            </a:pPr>
            <a:r>
              <a:rPr dirty="0" sz="1050" spc="-75">
                <a:solidFill>
                  <a:srgbClr val="1D283B"/>
                </a:solidFill>
                <a:latin typeface="SimSun"/>
                <a:cs typeface="SimSun"/>
              </a:rPr>
              <a:t>由于 </a:t>
            </a:r>
            <a:r>
              <a:rPr dirty="0" sz="1050" spc="185">
                <a:solidFill>
                  <a:srgbClr val="1D283B"/>
                </a:solidFill>
                <a:latin typeface="SimSun"/>
                <a:cs typeface="SimSun"/>
              </a:rPr>
              <a:t>Web</a:t>
            </a:r>
            <a:r>
              <a:rPr dirty="0" sz="1050" spc="-85">
                <a:solidFill>
                  <a:srgbClr val="1D283B"/>
                </a:solidFill>
                <a:latin typeface="SimSun"/>
                <a:cs typeface="SimSun"/>
              </a:rPr>
              <a:t> 核心的 </a:t>
            </a:r>
            <a:r>
              <a:rPr dirty="0" sz="1050" spc="10" b="1">
                <a:solidFill>
                  <a:srgbClr val="1D283B"/>
                </a:solidFill>
                <a:latin typeface="Microsoft JhengHei"/>
                <a:cs typeface="Microsoft JhengHei"/>
              </a:rPr>
              <a:t>HTTP</a:t>
            </a:r>
            <a:r>
              <a:rPr dirty="0" sz="1050" b="1">
                <a:solidFill>
                  <a:srgbClr val="1D283B"/>
                </a:solidFill>
                <a:latin typeface="Microsoft JhengHei"/>
                <a:cs typeface="Microsoft JhengHei"/>
              </a:rPr>
              <a:t> 协议是无状态的</a:t>
            </a:r>
            <a:r>
              <a:rPr dirty="0" sz="1050" spc="10" b="1">
                <a:solidFill>
                  <a:srgbClr val="1D283B"/>
                </a:solidFill>
                <a:latin typeface="Microsoft JhengHei"/>
                <a:cs typeface="Microsoft JhengHei"/>
              </a:rPr>
              <a:t>（Stateless）</a:t>
            </a:r>
            <a:r>
              <a:rPr dirty="0" sz="1050" spc="-10">
                <a:solidFill>
                  <a:srgbClr val="1D283B"/>
                </a:solidFill>
                <a:latin typeface="SimSun"/>
                <a:cs typeface="SimSun"/>
              </a:rPr>
              <a:t>，它就像一个“重度脸盲患者”。你刚在页面 </a:t>
            </a:r>
            <a:r>
              <a:rPr dirty="0" sz="1050" spc="110">
                <a:solidFill>
                  <a:srgbClr val="1D283B"/>
                </a:solidFill>
                <a:latin typeface="SimSun"/>
                <a:cs typeface="SimSun"/>
              </a:rPr>
              <a:t>A</a:t>
            </a:r>
            <a:r>
              <a:rPr dirty="0" sz="1050" spc="-55">
                <a:solidFill>
                  <a:srgbClr val="1D283B"/>
                </a:solidFill>
                <a:latin typeface="SimSun"/>
                <a:cs typeface="SimSun"/>
              </a:rPr>
              <a:t> 登录了</a:t>
            </a:r>
            <a:r>
              <a:rPr dirty="0" sz="1050" spc="-10">
                <a:solidFill>
                  <a:srgbClr val="1D283B"/>
                </a:solidFill>
                <a:latin typeface="SimSun"/>
                <a:cs typeface="SimSun"/>
              </a:rPr>
              <a:t>账号，刷新跳转到页面 </a:t>
            </a:r>
            <a:r>
              <a:rPr dirty="0" sz="1050" spc="160">
                <a:solidFill>
                  <a:srgbClr val="1D283B"/>
                </a:solidFill>
                <a:latin typeface="SimSun"/>
                <a:cs typeface="SimSun"/>
              </a:rPr>
              <a:t>B</a:t>
            </a:r>
            <a:r>
              <a:rPr dirty="0" sz="1050" spc="-10">
                <a:solidFill>
                  <a:srgbClr val="1D283B"/>
                </a:solidFill>
                <a:latin typeface="SimSun"/>
                <a:cs typeface="SimSun"/>
              </a:rPr>
              <a:t> 时，服务器就会把你看作一个完全陌生的新访客。为了解决这种“记性问题”，</a:t>
            </a:r>
            <a:r>
              <a:rPr dirty="0" sz="1050" spc="110">
                <a:solidFill>
                  <a:srgbClr val="1D283B"/>
                </a:solidFill>
                <a:latin typeface="SimSun"/>
                <a:cs typeface="SimSun"/>
              </a:rPr>
              <a:t>Web</a:t>
            </a:r>
            <a:r>
              <a:rPr dirty="0" sz="1050" spc="-50">
                <a:solidFill>
                  <a:srgbClr val="1D283B"/>
                </a:solidFill>
                <a:latin typeface="SimSun"/>
                <a:cs typeface="SimSun"/>
              </a:rPr>
              <a:t>开发引入了 </a:t>
            </a:r>
            <a:r>
              <a:rPr dirty="0" sz="1050" spc="35">
                <a:solidFill>
                  <a:srgbClr val="1D283B"/>
                </a:solidFill>
                <a:latin typeface="SimSun"/>
                <a:cs typeface="SimSun"/>
              </a:rPr>
              <a:t>Cookie</a:t>
            </a:r>
            <a:r>
              <a:rPr dirty="0" sz="1050" spc="-195">
                <a:solidFill>
                  <a:srgbClr val="1D283B"/>
                </a:solidFill>
                <a:latin typeface="SimSun"/>
                <a:cs typeface="SimSun"/>
              </a:rPr>
              <a:t> 与 </a:t>
            </a:r>
            <a:r>
              <a:rPr dirty="0" sz="1050" spc="10">
                <a:solidFill>
                  <a:srgbClr val="1D283B"/>
                </a:solidFill>
                <a:latin typeface="SimSun"/>
                <a:cs typeface="SimSun"/>
              </a:rPr>
              <a:t>Session</a:t>
            </a:r>
            <a:r>
              <a:rPr dirty="0" sz="1050" spc="-75">
                <a:solidFill>
                  <a:srgbClr val="1D283B"/>
                </a:solidFill>
                <a:latin typeface="SimSun"/>
                <a:cs typeface="SimSun"/>
              </a:rPr>
              <a:t> 机制。</a:t>
            </a:r>
            <a:endParaRPr sz="10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050">
              <a:latin typeface="SimSun"/>
              <a:cs typeface="SimSun"/>
            </a:endParaRPr>
          </a:p>
          <a:p>
            <a:pPr marL="389890">
              <a:lnSpc>
                <a:spcPct val="100000"/>
              </a:lnSpc>
            </a:pPr>
            <a:r>
              <a:rPr dirty="0" sz="1050" b="1">
                <a:solidFill>
                  <a:srgbClr val="0369A1"/>
                </a:solidFill>
                <a:latin typeface="Microsoft JhengHei"/>
                <a:cs typeface="Microsoft JhengHei"/>
              </a:rPr>
              <a:t>生活映射：Tomcat</a:t>
            </a:r>
            <a:r>
              <a:rPr dirty="0" sz="1050" spc="-15" b="1">
                <a:solidFill>
                  <a:srgbClr val="0369A1"/>
                </a:solidFill>
                <a:latin typeface="Microsoft JhengHei"/>
                <a:cs typeface="Microsoft JhengHei"/>
              </a:rPr>
              <a:t> 理发店的会员档案体系</a:t>
            </a:r>
            <a:endParaRPr sz="1050">
              <a:latin typeface="Microsoft JhengHei"/>
              <a:cs typeface="Microsoft JhengHei"/>
            </a:endParaRPr>
          </a:p>
          <a:p>
            <a:pPr marL="193675">
              <a:lnSpc>
                <a:spcPct val="100000"/>
              </a:lnSpc>
              <a:spcBef>
                <a:spcPts val="840"/>
              </a:spcBef>
            </a:pPr>
            <a:r>
              <a:rPr dirty="0" sz="1050" b="1">
                <a:solidFill>
                  <a:srgbClr val="1D283B"/>
                </a:solidFill>
                <a:latin typeface="Microsoft JhengHei"/>
                <a:cs typeface="Microsoft JhengHei"/>
              </a:rPr>
              <a:t>理发店（服务器）：</a:t>
            </a:r>
            <a:r>
              <a:rPr dirty="0" sz="1050" spc="-30" b="1">
                <a:solidFill>
                  <a:srgbClr val="1D283B"/>
                </a:solidFill>
                <a:latin typeface="Microsoft JhengHei"/>
                <a:cs typeface="Microsoft JhengHei"/>
              </a:rPr>
              <a:t> </a:t>
            </a:r>
            <a:r>
              <a:rPr dirty="0" sz="1050" spc="-5">
                <a:solidFill>
                  <a:srgbClr val="1D283B"/>
                </a:solidFill>
                <a:latin typeface="SimSun"/>
                <a:cs typeface="SimSun"/>
              </a:rPr>
              <a:t>专门处理用户业务的核心场所。</a:t>
            </a:r>
            <a:endParaRPr sz="1050">
              <a:latin typeface="SimSun"/>
              <a:cs typeface="SimSun"/>
            </a:endParaRPr>
          </a:p>
          <a:p>
            <a:pPr algn="just" marL="193675" marR="147955">
              <a:lnSpc>
                <a:spcPct val="133300"/>
              </a:lnSpc>
              <a:spcBef>
                <a:spcPts val="900"/>
              </a:spcBef>
            </a:pPr>
            <a:r>
              <a:rPr dirty="0" sz="1050" b="1">
                <a:solidFill>
                  <a:srgbClr val="1D283B"/>
                </a:solidFill>
                <a:latin typeface="Microsoft JhengHei"/>
                <a:cs typeface="Microsoft JhengHei"/>
              </a:rPr>
              <a:t>会员专属档案（Session）：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当你第一次去理发店时，前台小妹在店内的电脑系统（服务器内存）</a:t>
            </a:r>
            <a:r>
              <a:rPr dirty="0" sz="1050" spc="-20">
                <a:solidFill>
                  <a:srgbClr val="1D283B"/>
                </a:solidFill>
                <a:latin typeface="SimSun"/>
                <a:cs typeface="SimSun"/>
              </a:rPr>
              <a:t>里为你</a:t>
            </a:r>
            <a:r>
              <a:rPr dirty="0" sz="1050" spc="-5">
                <a:solidFill>
                  <a:srgbClr val="1D283B"/>
                </a:solidFill>
                <a:latin typeface="SimSun"/>
                <a:cs typeface="SimSun"/>
              </a:rPr>
              <a:t>建立了一份专属档案，记录了你的姓名、账户余额、偏好 </a:t>
            </a:r>
            <a:r>
              <a:rPr dirty="0" sz="1050" spc="60">
                <a:solidFill>
                  <a:srgbClr val="1D283B"/>
                </a:solidFill>
                <a:latin typeface="SimSun"/>
                <a:cs typeface="SimSun"/>
              </a:rPr>
              <a:t>Tony</a:t>
            </a:r>
            <a:r>
              <a:rPr dirty="0" sz="1050" spc="-30">
                <a:solidFill>
                  <a:srgbClr val="1D283B"/>
                </a:solidFill>
                <a:latin typeface="SimSun"/>
                <a:cs typeface="SimSun"/>
              </a:rPr>
              <a:t> 老师等敏感重要数据。这份只存在于店里</a:t>
            </a:r>
            <a:r>
              <a:rPr dirty="0" sz="1050" spc="-35">
                <a:solidFill>
                  <a:srgbClr val="1D283B"/>
                </a:solidFill>
                <a:latin typeface="SimSun"/>
                <a:cs typeface="SimSun"/>
              </a:rPr>
              <a:t>的档案就是 </a:t>
            </a:r>
            <a:r>
              <a:rPr dirty="0" sz="1050" b="1">
                <a:solidFill>
                  <a:srgbClr val="1D283B"/>
                </a:solidFill>
                <a:latin typeface="Microsoft JhengHei"/>
                <a:cs typeface="Microsoft JhengHei"/>
              </a:rPr>
              <a:t>Session</a:t>
            </a:r>
            <a:r>
              <a:rPr dirty="0" sz="1050" spc="-50">
                <a:solidFill>
                  <a:srgbClr val="1D283B"/>
                </a:solidFill>
                <a:latin typeface="SimSun"/>
                <a:cs typeface="SimSun"/>
              </a:rPr>
              <a:t>。</a:t>
            </a:r>
            <a:endParaRPr sz="1050">
              <a:latin typeface="SimSun"/>
              <a:cs typeface="SimSun"/>
            </a:endParaRPr>
          </a:p>
          <a:p>
            <a:pPr algn="just" marL="193675" marR="147320">
              <a:lnSpc>
                <a:spcPct val="135300"/>
              </a:lnSpc>
              <a:spcBef>
                <a:spcPts val="875"/>
              </a:spcBef>
            </a:pPr>
            <a:r>
              <a:rPr dirty="0" sz="1050" b="1">
                <a:solidFill>
                  <a:srgbClr val="1D283B"/>
                </a:solidFill>
                <a:latin typeface="Microsoft JhengHei"/>
                <a:cs typeface="Microsoft JhengHei"/>
              </a:rPr>
              <a:t>实体卡号（Cookie）： </a:t>
            </a:r>
            <a:r>
              <a:rPr dirty="0" sz="1050" spc="-5">
                <a:solidFill>
                  <a:srgbClr val="1D283B"/>
                </a:solidFill>
                <a:latin typeface="SimSun"/>
                <a:cs typeface="SimSun"/>
              </a:rPr>
              <a:t>为了下次能快速认出你，前台小妹交给你一张实体会员卡，上面仅仅印着一个高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随机性的乱码卡号（如：</a:t>
            </a:r>
            <a:r>
              <a:rPr dirty="0" sz="1050">
                <a:solidFill>
                  <a:srgbClr val="1D283B"/>
                </a:solidFill>
                <a:latin typeface="Courier New"/>
                <a:cs typeface="Courier New"/>
              </a:rPr>
              <a:t>VIP9527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）</a:t>
            </a:r>
            <a:r>
              <a:rPr dirty="0" sz="1050" spc="85">
                <a:solidFill>
                  <a:srgbClr val="1D283B"/>
                </a:solidFill>
                <a:latin typeface="SimSun"/>
                <a:cs typeface="SimSun"/>
              </a:rPr>
              <a:t>。这张保存在你口袋里的卡片就是    </a:t>
            </a:r>
            <a:r>
              <a:rPr dirty="0" sz="1050" b="1">
                <a:solidFill>
                  <a:srgbClr val="1D283B"/>
                </a:solidFill>
                <a:latin typeface="Microsoft JhengHei"/>
                <a:cs typeface="Microsoft JhengHei"/>
              </a:rPr>
              <a:t>Cookie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（</a:t>
            </a:r>
            <a:r>
              <a:rPr dirty="0" sz="1050" spc="-10">
                <a:solidFill>
                  <a:srgbClr val="1D283B"/>
                </a:solidFill>
                <a:latin typeface="SimSun"/>
                <a:cs typeface="SimSun"/>
              </a:rPr>
              <a:t>准确地说是包含</a:t>
            </a:r>
            <a:r>
              <a:rPr dirty="0" sz="1050" spc="-50">
                <a:solidFill>
                  <a:srgbClr val="1D283B"/>
                </a:solidFill>
                <a:latin typeface="SimSun"/>
                <a:cs typeface="SimSun"/>
              </a:rPr>
              <a:t>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Session</a:t>
            </a:r>
            <a:r>
              <a:rPr dirty="0" sz="1050" spc="-204">
                <a:solidFill>
                  <a:srgbClr val="1D283B"/>
                </a:solidFill>
                <a:latin typeface="SimSun"/>
                <a:cs typeface="SimSun"/>
              </a:rPr>
              <a:t> </a:t>
            </a:r>
            <a:r>
              <a:rPr dirty="0" sz="1050" spc="-20">
                <a:solidFill>
                  <a:srgbClr val="1D283B"/>
                </a:solidFill>
                <a:latin typeface="SimSun"/>
                <a:cs typeface="SimSun"/>
              </a:rPr>
              <a:t>ID</a:t>
            </a:r>
            <a:r>
              <a:rPr dirty="0" sz="1050" spc="-140">
                <a:solidFill>
                  <a:srgbClr val="1D283B"/>
                </a:solidFill>
                <a:latin typeface="SimSun"/>
                <a:cs typeface="SimSun"/>
              </a:rPr>
              <a:t> 的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Cookie）</a:t>
            </a:r>
            <a:r>
              <a:rPr dirty="0" sz="1050" spc="-50">
                <a:solidFill>
                  <a:srgbClr val="1D283B"/>
                </a:solidFill>
                <a:latin typeface="SimSun"/>
                <a:cs typeface="SimSun"/>
              </a:rPr>
              <a:t>。</a:t>
            </a:r>
            <a:endParaRPr sz="1050">
              <a:latin typeface="SimSun"/>
              <a:cs typeface="SimSun"/>
            </a:endParaRPr>
          </a:p>
          <a:p>
            <a:pPr marL="193675">
              <a:lnSpc>
                <a:spcPct val="100000"/>
              </a:lnSpc>
              <a:spcBef>
                <a:spcPts val="1320"/>
              </a:spcBef>
            </a:pPr>
            <a:r>
              <a:rPr dirty="0" sz="1050" spc="20" b="1">
                <a:solidFill>
                  <a:srgbClr val="1D283B"/>
                </a:solidFill>
                <a:latin typeface="Microsoft JhengHei"/>
                <a:cs typeface="Microsoft JhengHei"/>
              </a:rPr>
              <a:t>会话识别：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下次你再次光顾时，只需出示会员卡（</a:t>
            </a:r>
            <a:r>
              <a:rPr dirty="0" sz="1050" spc="-45">
                <a:solidFill>
                  <a:srgbClr val="1D283B"/>
                </a:solidFill>
                <a:latin typeface="SimSun"/>
                <a:cs typeface="SimSun"/>
              </a:rPr>
              <a:t>携带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Cookie</a:t>
            </a:r>
            <a:r>
              <a:rPr dirty="0" sz="1050" spc="-30">
                <a:solidFill>
                  <a:srgbClr val="1D283B"/>
                </a:solidFill>
                <a:latin typeface="SimSun"/>
                <a:cs typeface="SimSun"/>
              </a:rPr>
              <a:t> 发送请求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），</a:t>
            </a:r>
            <a:r>
              <a:rPr dirty="0" sz="1050" spc="-5">
                <a:solidFill>
                  <a:srgbClr val="1D283B"/>
                </a:solidFill>
                <a:latin typeface="SimSun"/>
                <a:cs typeface="SimSun"/>
              </a:rPr>
              <a:t>前台在系统里输入卡号一查</a:t>
            </a:r>
            <a:endParaRPr sz="1050">
              <a:latin typeface="SimSun"/>
              <a:cs typeface="SimSun"/>
            </a:endParaRPr>
          </a:p>
          <a:p>
            <a:pPr marL="193675">
              <a:lnSpc>
                <a:spcPct val="100000"/>
              </a:lnSpc>
              <a:spcBef>
                <a:spcPts val="420"/>
              </a:spcBef>
            </a:pP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（</a:t>
            </a:r>
            <a:r>
              <a:rPr dirty="0" sz="1050" spc="-75">
                <a:solidFill>
                  <a:srgbClr val="1D283B"/>
                </a:solidFill>
                <a:latin typeface="SimSun"/>
                <a:cs typeface="SimSun"/>
              </a:rPr>
              <a:t>匹配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Session</a:t>
            </a:r>
            <a:r>
              <a:rPr dirty="0" sz="1050" spc="-204">
                <a:solidFill>
                  <a:srgbClr val="1D283B"/>
                </a:solidFill>
                <a:latin typeface="SimSun"/>
                <a:cs typeface="SimSun"/>
              </a:rPr>
              <a:t> </a:t>
            </a:r>
            <a:r>
              <a:rPr dirty="0" sz="1050" spc="-10">
                <a:solidFill>
                  <a:srgbClr val="1D283B"/>
                </a:solidFill>
                <a:latin typeface="SimSun"/>
                <a:cs typeface="SimSun"/>
              </a:rPr>
              <a:t>ID），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就能立刻调出你的专属档案（Session），</a:t>
            </a:r>
            <a:r>
              <a:rPr dirty="0" sz="1050" spc="-10">
                <a:solidFill>
                  <a:srgbClr val="1D283B"/>
                </a:solidFill>
                <a:latin typeface="SimSun"/>
                <a:cs typeface="SimSun"/>
              </a:rPr>
              <a:t>状态得以完美延续。</a:t>
            </a:r>
            <a:endParaRPr sz="1050">
              <a:latin typeface="SimSun"/>
              <a:cs typeface="SimSun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>
                <a:latin typeface="Palatino Linotype"/>
                <a:cs typeface="Palatino Linotype"/>
              </a:rPr>
              <a:t>Java</a:t>
            </a:r>
            <a:r>
              <a:rPr dirty="0" spc="55">
                <a:latin typeface="Palatino Linotype"/>
                <a:cs typeface="Palatino Linotype"/>
              </a:rPr>
              <a:t> </a:t>
            </a:r>
            <a:r>
              <a:rPr dirty="0">
                <a:latin typeface="Palatino Linotype"/>
                <a:cs typeface="Palatino Linotype"/>
              </a:rPr>
              <a:t>Web</a:t>
            </a:r>
            <a:r>
              <a:rPr dirty="0" spc="60">
                <a:latin typeface="Palatino Linotype"/>
                <a:cs typeface="Palatino Linotype"/>
              </a:rPr>
              <a:t> </a:t>
            </a:r>
            <a:r>
              <a:rPr dirty="0" spc="-40"/>
              <a:t>状态管理全景指南 — 开发与架构深度解析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100"/>
              <a:t>第 </a:t>
            </a:r>
            <a:fld id="{81D60167-4931-47E6-BA6A-407CBD079E47}" type="slidenum">
              <a:rPr dirty="0"/>
              <a:t>2</a:t>
            </a:fld>
            <a:r>
              <a:rPr dirty="0" spc="-125"/>
              <a:t> 页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527299" y="6474435"/>
            <a:ext cx="6505575" cy="2698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F162A"/>
                </a:solidFill>
                <a:latin typeface="Microsoft JhengHei"/>
                <a:cs typeface="Microsoft JhengHei"/>
              </a:rPr>
              <a:t>2.</a:t>
            </a:r>
            <a:r>
              <a:rPr dirty="0" sz="1400" spc="15" b="1">
                <a:solidFill>
                  <a:srgbClr val="0F162A"/>
                </a:solidFill>
                <a:latin typeface="Microsoft JhengHei"/>
                <a:cs typeface="Microsoft JhengHei"/>
              </a:rPr>
              <a:t> 详解：</a:t>
            </a:r>
            <a:r>
              <a:rPr dirty="0" sz="1400" b="1">
                <a:solidFill>
                  <a:srgbClr val="0F162A"/>
                </a:solidFill>
                <a:latin typeface="Microsoft JhengHei"/>
                <a:cs typeface="Microsoft JhengHei"/>
              </a:rPr>
              <a:t>Session</a:t>
            </a:r>
            <a:r>
              <a:rPr dirty="0" sz="1400" spc="-5" b="1">
                <a:solidFill>
                  <a:srgbClr val="0F162A"/>
                </a:solidFill>
                <a:latin typeface="Microsoft JhengHei"/>
                <a:cs typeface="Microsoft JhengHei"/>
              </a:rPr>
              <a:t> 的创建时机与销毁场景</a:t>
            </a:r>
            <a:endParaRPr sz="1400">
              <a:latin typeface="Microsoft JhengHei"/>
              <a:cs typeface="Microsoft JhengHei"/>
            </a:endParaRPr>
          </a:p>
          <a:p>
            <a:pPr marL="12700" marR="5080">
              <a:lnSpc>
                <a:spcPct val="133300"/>
              </a:lnSpc>
              <a:spcBef>
                <a:spcPts val="1180"/>
              </a:spcBef>
            </a:pP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Session 在内存中的生命周期十分严密，错误地理解其诞生与消亡往往会导致系统内存溢出</a:t>
            </a:r>
            <a:r>
              <a:rPr dirty="0" sz="1050" spc="165">
                <a:solidFill>
                  <a:srgbClr val="1D283B"/>
                </a:solidFill>
                <a:latin typeface="SimSun"/>
                <a:cs typeface="SimSun"/>
              </a:rPr>
              <a:t>（OOM）</a:t>
            </a:r>
            <a:r>
              <a:rPr dirty="0" sz="1050" spc="-15">
                <a:solidFill>
                  <a:srgbClr val="1D283B"/>
                </a:solidFill>
                <a:latin typeface="SimSun"/>
                <a:cs typeface="SimSun"/>
              </a:rPr>
              <a:t>或会话凭证泄露。</a:t>
            </a:r>
            <a:endParaRPr sz="10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050">
              <a:latin typeface="SimSun"/>
              <a:cs typeface="SimSun"/>
            </a:endParaRPr>
          </a:p>
          <a:p>
            <a:pPr lvl="1" marL="264795" indent="-252095">
              <a:lnSpc>
                <a:spcPct val="100000"/>
              </a:lnSpc>
              <a:buClr>
                <a:srgbClr val="1D283B"/>
              </a:buClr>
              <a:buFont typeface="Microsoft JhengHei"/>
              <a:buAutoNum type="arabicPeriod"/>
              <a:tabLst>
                <a:tab pos="264795" algn="l"/>
              </a:tabLst>
            </a:pPr>
            <a:r>
              <a:rPr dirty="0" sz="1150" b="1">
                <a:solidFill>
                  <a:srgbClr val="1D283B"/>
                </a:solidFill>
                <a:latin typeface="Microsoft JhengHei"/>
                <a:cs typeface="Microsoft JhengHei"/>
              </a:rPr>
              <a:t>创建时机（并非打开网页即创建</a:t>
            </a:r>
            <a:r>
              <a:rPr dirty="0" sz="1150" spc="-50" b="1">
                <a:solidFill>
                  <a:srgbClr val="1D283B"/>
                </a:solidFill>
                <a:latin typeface="Microsoft JhengHei"/>
                <a:cs typeface="Microsoft JhengHei"/>
              </a:rPr>
              <a:t>）</a:t>
            </a:r>
            <a:endParaRPr sz="1150">
              <a:latin typeface="Microsoft JhengHei"/>
              <a:cs typeface="Microsoft JhengHei"/>
            </a:endParaRPr>
          </a:p>
          <a:p>
            <a:pPr lvl="2" marL="203200" marR="76200" indent="-163830">
              <a:lnSpc>
                <a:spcPct val="137300"/>
              </a:lnSpc>
              <a:spcBef>
                <a:spcPts val="715"/>
              </a:spcBef>
              <a:buClr>
                <a:srgbClr val="1D283B"/>
              </a:buClr>
              <a:buFont typeface="SimSun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E11C48"/>
                </a:solidFill>
                <a:latin typeface="Microsoft JhengHei"/>
                <a:cs typeface="Microsoft JhengHei"/>
              </a:rPr>
              <a:t>显式代码触发（核心）：</a:t>
            </a:r>
            <a:r>
              <a:rPr dirty="0" sz="1050" spc="-30" b="1">
                <a:solidFill>
                  <a:srgbClr val="E11C48"/>
                </a:solidFill>
                <a:latin typeface="Microsoft JhengHei"/>
                <a:cs typeface="Microsoft JhengHei"/>
              </a:rPr>
              <a:t> </a:t>
            </a:r>
            <a:r>
              <a:rPr dirty="0" sz="1050" spc="-30">
                <a:solidFill>
                  <a:srgbClr val="1D283B"/>
                </a:solidFill>
                <a:latin typeface="SimSun"/>
                <a:cs typeface="SimSun"/>
              </a:rPr>
              <a:t>只有当后端程序执行到 </a:t>
            </a:r>
            <a:r>
              <a:rPr dirty="0" sz="1050">
                <a:solidFill>
                  <a:srgbClr val="1D283B"/>
                </a:solidFill>
                <a:latin typeface="Courier New"/>
                <a:cs typeface="Courier New"/>
              </a:rPr>
              <a:t>request.getSession()</a:t>
            </a:r>
            <a:r>
              <a:rPr dirty="0" sz="1050" spc="-395">
                <a:solidFill>
                  <a:srgbClr val="1D283B"/>
                </a:solidFill>
                <a:latin typeface="Courier New"/>
                <a:cs typeface="Courier New"/>
              </a:rPr>
              <a:t> </a:t>
            </a:r>
            <a:r>
              <a:rPr dirty="0" sz="1050" spc="-50">
                <a:solidFill>
                  <a:srgbClr val="1D283B"/>
                </a:solidFill>
                <a:latin typeface="SimSun"/>
                <a:cs typeface="SimSun"/>
              </a:rPr>
              <a:t>或 </a:t>
            </a:r>
            <a:r>
              <a:rPr dirty="0" sz="1050">
                <a:solidFill>
                  <a:srgbClr val="1D283B"/>
                </a:solidFill>
                <a:latin typeface="Courier New"/>
                <a:cs typeface="Courier New"/>
              </a:rPr>
              <a:t>request.getSession(true)</a:t>
            </a:r>
            <a:r>
              <a:rPr dirty="0" sz="1050" spc="-370">
                <a:solidFill>
                  <a:srgbClr val="1D283B"/>
                </a:solidFill>
                <a:latin typeface="Courier New"/>
                <a:cs typeface="Courier New"/>
              </a:rPr>
              <a:t> </a:t>
            </a:r>
            <a:r>
              <a:rPr dirty="0" sz="1050" spc="-15">
                <a:solidFill>
                  <a:srgbClr val="1D283B"/>
                </a:solidFill>
                <a:latin typeface="SimSun"/>
                <a:cs typeface="SimSun"/>
              </a:rPr>
              <a:t>时，服务器才会检查请求中是否携带有效的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Session</a:t>
            </a:r>
            <a:r>
              <a:rPr dirty="0" sz="1050" spc="-265">
                <a:solidFill>
                  <a:srgbClr val="1D283B"/>
                </a:solidFill>
                <a:latin typeface="SimSun"/>
                <a:cs typeface="SimSun"/>
              </a:rPr>
              <a:t> </a:t>
            </a:r>
            <a:r>
              <a:rPr dirty="0" sz="1050" spc="-10">
                <a:solidFill>
                  <a:srgbClr val="1D283B"/>
                </a:solidFill>
                <a:latin typeface="SimSun"/>
                <a:cs typeface="SimSun"/>
              </a:rPr>
              <a:t>ID</a:t>
            </a:r>
            <a:r>
              <a:rPr dirty="0" sz="1050" spc="-15">
                <a:solidFill>
                  <a:srgbClr val="1D283B"/>
                </a:solidFill>
                <a:latin typeface="SimSun"/>
                <a:cs typeface="SimSun"/>
              </a:rPr>
              <a:t>。若未携带或未匹配到，则在服务端内存中被动创建全新的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Session</a:t>
            </a:r>
            <a:r>
              <a:rPr dirty="0" sz="1050" spc="-80">
                <a:solidFill>
                  <a:srgbClr val="1D283B"/>
                </a:solidFill>
                <a:latin typeface="SimSun"/>
                <a:cs typeface="SimSun"/>
              </a:rPr>
              <a:t> 对象。</a:t>
            </a:r>
            <a:endParaRPr sz="1050">
              <a:latin typeface="SimSun"/>
              <a:cs typeface="SimSun"/>
            </a:endParaRPr>
          </a:p>
          <a:p>
            <a:pPr lvl="2" marL="203200" marR="207010" indent="-163830">
              <a:lnSpc>
                <a:spcPct val="137300"/>
              </a:lnSpc>
              <a:spcBef>
                <a:spcPts val="400"/>
              </a:spcBef>
              <a:buClr>
                <a:srgbClr val="1D283B"/>
              </a:buClr>
              <a:buFont typeface="SimSun"/>
              <a:buChar char="•"/>
              <a:tabLst>
                <a:tab pos="203200" algn="l"/>
              </a:tabLst>
            </a:pPr>
            <a:r>
              <a:rPr dirty="0" sz="1050" spc="70" b="1">
                <a:solidFill>
                  <a:srgbClr val="E11C48"/>
                </a:solidFill>
                <a:latin typeface="Microsoft JhengHei"/>
                <a:cs typeface="Microsoft JhengHei"/>
              </a:rPr>
              <a:t>JSP</a:t>
            </a:r>
            <a:r>
              <a:rPr dirty="0" sz="1050" spc="-15" b="1">
                <a:solidFill>
                  <a:srgbClr val="E11C48"/>
                </a:solidFill>
                <a:latin typeface="Microsoft JhengHei"/>
                <a:cs typeface="Microsoft JhengHei"/>
              </a:rPr>
              <a:t> 页面默认行为： </a:t>
            </a:r>
            <a:r>
              <a:rPr dirty="0" sz="1050" spc="-95">
                <a:solidFill>
                  <a:srgbClr val="1D283B"/>
                </a:solidFill>
                <a:latin typeface="SimSun"/>
                <a:cs typeface="SimSun"/>
              </a:rPr>
              <a:t>访问 </a:t>
            </a:r>
            <a:r>
              <a:rPr dirty="0" sz="1050" spc="85">
                <a:solidFill>
                  <a:srgbClr val="1D283B"/>
                </a:solidFill>
                <a:latin typeface="SimSun"/>
                <a:cs typeface="SimSun"/>
              </a:rPr>
              <a:t>JSP</a:t>
            </a:r>
            <a:r>
              <a:rPr dirty="0" sz="1050" spc="-75">
                <a:solidFill>
                  <a:srgbClr val="1D283B"/>
                </a:solidFill>
                <a:latin typeface="SimSun"/>
                <a:cs typeface="SimSun"/>
              </a:rPr>
              <a:t> 页面时，因为 </a:t>
            </a:r>
            <a:r>
              <a:rPr dirty="0" sz="1050" spc="85">
                <a:solidFill>
                  <a:srgbClr val="1D283B"/>
                </a:solidFill>
                <a:latin typeface="SimSun"/>
                <a:cs typeface="SimSun"/>
              </a:rPr>
              <a:t>JSP</a:t>
            </a:r>
            <a:r>
              <a:rPr dirty="0" sz="1050" spc="-100">
                <a:solidFill>
                  <a:srgbClr val="1D283B"/>
                </a:solidFill>
                <a:latin typeface="SimSun"/>
                <a:cs typeface="SimSun"/>
              </a:rPr>
              <a:t> 编译后的 </a:t>
            </a:r>
            <a:r>
              <a:rPr dirty="0" sz="1050" spc="-45">
                <a:solidFill>
                  <a:srgbClr val="1D283B"/>
                </a:solidFill>
                <a:latin typeface="SimSun"/>
                <a:cs typeface="SimSun"/>
              </a:rPr>
              <a:t>Servlet</a:t>
            </a:r>
            <a:r>
              <a:rPr dirty="0" sz="1050" spc="-100">
                <a:solidFill>
                  <a:srgbClr val="1D283B"/>
                </a:solidFill>
                <a:latin typeface="SimSun"/>
                <a:cs typeface="SimSun"/>
              </a:rPr>
              <a:t> 默认包含 </a:t>
            </a:r>
            <a:r>
              <a:rPr dirty="0" sz="1050">
                <a:solidFill>
                  <a:srgbClr val="1D283B"/>
                </a:solidFill>
                <a:latin typeface="Courier New"/>
                <a:cs typeface="Courier New"/>
              </a:rPr>
              <a:t>&lt;%@</a:t>
            </a:r>
            <a:r>
              <a:rPr dirty="0" sz="1050" spc="20">
                <a:solidFill>
                  <a:srgbClr val="1D283B"/>
                </a:solidFill>
                <a:latin typeface="Courier New"/>
                <a:cs typeface="Courier New"/>
              </a:rPr>
              <a:t> </a:t>
            </a:r>
            <a:r>
              <a:rPr dirty="0" sz="1050" spc="-20">
                <a:solidFill>
                  <a:srgbClr val="1D283B"/>
                </a:solidFill>
                <a:latin typeface="Courier New"/>
                <a:cs typeface="Courier New"/>
              </a:rPr>
              <a:t>page </a:t>
            </a:r>
            <a:r>
              <a:rPr dirty="0" sz="1050">
                <a:solidFill>
                  <a:srgbClr val="1D283B"/>
                </a:solidFill>
                <a:latin typeface="Courier New"/>
                <a:cs typeface="Courier New"/>
              </a:rPr>
              <a:t>session="true"</a:t>
            </a:r>
            <a:r>
              <a:rPr dirty="0" sz="1050" spc="-105">
                <a:solidFill>
                  <a:srgbClr val="1D283B"/>
                </a:solidFill>
                <a:latin typeface="Courier New"/>
                <a:cs typeface="Courier New"/>
              </a:rPr>
              <a:t> %&gt; </a:t>
            </a:r>
            <a:r>
              <a:rPr dirty="0" sz="1050" spc="-25">
                <a:solidFill>
                  <a:srgbClr val="1D283B"/>
                </a:solidFill>
                <a:latin typeface="SimSun"/>
                <a:cs typeface="SimSun"/>
              </a:rPr>
              <a:t>指令，它会在底层自动调用 </a:t>
            </a:r>
            <a:r>
              <a:rPr dirty="0" sz="1050">
                <a:solidFill>
                  <a:srgbClr val="1D283B"/>
                </a:solidFill>
                <a:latin typeface="Courier New"/>
                <a:cs typeface="Courier New"/>
              </a:rPr>
              <a:t>request.getSession()</a:t>
            </a:r>
            <a:r>
              <a:rPr dirty="0" sz="1050" spc="-5">
                <a:solidFill>
                  <a:srgbClr val="1D283B"/>
                </a:solidFill>
                <a:latin typeface="SimSun"/>
                <a:cs typeface="SimSun"/>
              </a:rPr>
              <a:t>，从而触发自动创建。纯</a:t>
            </a:r>
            <a:r>
              <a:rPr dirty="0" sz="1050" spc="-50">
                <a:solidFill>
                  <a:srgbClr val="1D283B"/>
                </a:solidFill>
                <a:latin typeface="SimSun"/>
                <a:cs typeface="SimSun"/>
              </a:rPr>
              <a:t> </a:t>
            </a:r>
            <a:r>
              <a:rPr dirty="0" sz="1050" spc="175">
                <a:solidFill>
                  <a:srgbClr val="1D283B"/>
                </a:solidFill>
                <a:latin typeface="SimSun"/>
                <a:cs typeface="SimSun"/>
              </a:rPr>
              <a:t>HTML</a:t>
            </a:r>
            <a:r>
              <a:rPr dirty="0" sz="1050" spc="-65">
                <a:solidFill>
                  <a:srgbClr val="1D283B"/>
                </a:solidFill>
                <a:latin typeface="SimSun"/>
                <a:cs typeface="SimSun"/>
              </a:rPr>
              <a:t> 静态页面或未调用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API</a:t>
            </a:r>
            <a:r>
              <a:rPr dirty="0" sz="1050" spc="-110">
                <a:solidFill>
                  <a:srgbClr val="1D283B"/>
                </a:solidFill>
                <a:latin typeface="SimSun"/>
                <a:cs typeface="SimSun"/>
              </a:rPr>
              <a:t> 的标准 </a:t>
            </a:r>
            <a:r>
              <a:rPr dirty="0" sz="1050" spc="-45">
                <a:solidFill>
                  <a:srgbClr val="1D283B"/>
                </a:solidFill>
                <a:latin typeface="SimSun"/>
                <a:cs typeface="SimSun"/>
              </a:rPr>
              <a:t>Servlet</a:t>
            </a:r>
            <a:r>
              <a:rPr dirty="0" sz="1050" spc="-75">
                <a:solidFill>
                  <a:srgbClr val="1D283B"/>
                </a:solidFill>
                <a:latin typeface="SimSun"/>
                <a:cs typeface="SimSun"/>
              </a:rPr>
              <a:t> 则绝不会创建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Session</a:t>
            </a:r>
            <a:r>
              <a:rPr dirty="0" sz="1050" spc="-50">
                <a:solidFill>
                  <a:srgbClr val="1D283B"/>
                </a:solidFill>
                <a:latin typeface="SimSun"/>
                <a:cs typeface="SimSun"/>
              </a:rPr>
              <a:t>。</a:t>
            </a:r>
            <a:endParaRPr sz="10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40000" y="2948900"/>
            <a:ext cx="38100" cy="284480"/>
          </a:xfrm>
          <a:custGeom>
            <a:avLst/>
            <a:gdLst/>
            <a:ahLst/>
            <a:cxnLst/>
            <a:rect l="l" t="t" r="r" b="b"/>
            <a:pathLst>
              <a:path w="38100" h="284480">
                <a:moveTo>
                  <a:pt x="38100" y="284480"/>
                </a:moveTo>
                <a:lnTo>
                  <a:pt x="0" y="284480"/>
                </a:lnTo>
                <a:lnTo>
                  <a:pt x="0" y="0"/>
                </a:lnTo>
                <a:lnTo>
                  <a:pt x="38100" y="0"/>
                </a:lnTo>
                <a:lnTo>
                  <a:pt x="38100" y="284480"/>
                </a:lnTo>
                <a:close/>
              </a:path>
            </a:pathLst>
          </a:custGeom>
          <a:solidFill>
            <a:srgbClr val="0183C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540000" y="3945850"/>
            <a:ext cx="6480175" cy="3052445"/>
            <a:chOff x="540000" y="3945850"/>
            <a:chExt cx="6480175" cy="3052445"/>
          </a:xfrm>
        </p:grpSpPr>
        <p:sp>
          <p:nvSpPr>
            <p:cNvPr id="4" name="object 4" descr=""/>
            <p:cNvSpPr/>
            <p:nvPr/>
          </p:nvSpPr>
          <p:spPr>
            <a:xfrm>
              <a:off x="540000" y="3945850"/>
              <a:ext cx="6480175" cy="3052445"/>
            </a:xfrm>
            <a:custGeom>
              <a:avLst/>
              <a:gdLst/>
              <a:ahLst/>
              <a:cxnLst/>
              <a:rect l="l" t="t" r="r" b="b"/>
              <a:pathLst>
                <a:path w="6480175" h="3052445">
                  <a:moveTo>
                    <a:pt x="6441900" y="3052144"/>
                  </a:moveTo>
                  <a:lnTo>
                    <a:pt x="0" y="3052144"/>
                  </a:lnTo>
                  <a:lnTo>
                    <a:pt x="0" y="0"/>
                  </a:lnTo>
                  <a:lnTo>
                    <a:pt x="6441900" y="0"/>
                  </a:lnTo>
                  <a:lnTo>
                    <a:pt x="6456693" y="3006"/>
                  </a:lnTo>
                  <a:lnTo>
                    <a:pt x="6468808" y="11191"/>
                  </a:lnTo>
                  <a:lnTo>
                    <a:pt x="6476993" y="23306"/>
                  </a:lnTo>
                  <a:lnTo>
                    <a:pt x="6480000" y="38100"/>
                  </a:lnTo>
                  <a:lnTo>
                    <a:pt x="6480000" y="3014044"/>
                  </a:lnTo>
                  <a:lnTo>
                    <a:pt x="6476993" y="3028838"/>
                  </a:lnTo>
                  <a:lnTo>
                    <a:pt x="6468808" y="3040953"/>
                  </a:lnTo>
                  <a:lnTo>
                    <a:pt x="6456693" y="3049138"/>
                  </a:lnTo>
                  <a:lnTo>
                    <a:pt x="6441900" y="3052144"/>
                  </a:lnTo>
                  <a:close/>
                </a:path>
              </a:pathLst>
            </a:custGeom>
            <a:solidFill>
              <a:srgbClr val="EFF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40000" y="3945850"/>
              <a:ext cx="38100" cy="3052445"/>
            </a:xfrm>
            <a:custGeom>
              <a:avLst/>
              <a:gdLst/>
              <a:ahLst/>
              <a:cxnLst/>
              <a:rect l="l" t="t" r="r" b="b"/>
              <a:pathLst>
                <a:path w="38100" h="3052445">
                  <a:moveTo>
                    <a:pt x="38100" y="3052144"/>
                  </a:moveTo>
                  <a:lnTo>
                    <a:pt x="0" y="3052144"/>
                  </a:lnTo>
                  <a:lnTo>
                    <a:pt x="0" y="0"/>
                  </a:lnTo>
                  <a:lnTo>
                    <a:pt x="38100" y="0"/>
                  </a:lnTo>
                  <a:lnTo>
                    <a:pt x="38100" y="3052144"/>
                  </a:lnTo>
                  <a:close/>
                </a:path>
              </a:pathLst>
            </a:custGeom>
            <a:solidFill>
              <a:srgbClr val="0183C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0975" y="4089295"/>
              <a:ext cx="176397" cy="16602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527299" y="7106300"/>
            <a:ext cx="6505575" cy="6724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35300"/>
              </a:lnSpc>
              <a:spcBef>
                <a:spcPts val="75"/>
              </a:spcBef>
            </a:pPr>
            <a:r>
              <a:rPr dirty="0" sz="1050" spc="25" b="1">
                <a:solidFill>
                  <a:srgbClr val="1D283B"/>
                </a:solidFill>
                <a:latin typeface="Microsoft JhengHei"/>
                <a:cs typeface="Microsoft JhengHei"/>
              </a:rPr>
              <a:t>技术补救方案 — </a:t>
            </a:r>
            <a:r>
              <a:rPr dirty="0" sz="1050" spc="20" b="1">
                <a:solidFill>
                  <a:srgbClr val="1D283B"/>
                </a:solidFill>
                <a:latin typeface="Microsoft JhengHei"/>
                <a:cs typeface="Microsoft JhengHei"/>
              </a:rPr>
              <a:t>URL</a:t>
            </a:r>
            <a:r>
              <a:rPr dirty="0" sz="1050" spc="70" b="1">
                <a:solidFill>
                  <a:srgbClr val="1D283B"/>
                </a:solidFill>
                <a:latin typeface="Microsoft JhengHei"/>
                <a:cs typeface="Microsoft JhengHei"/>
              </a:rPr>
              <a:t> 重写： </a:t>
            </a:r>
            <a:r>
              <a:rPr dirty="0" sz="1050" spc="-30">
                <a:solidFill>
                  <a:srgbClr val="1D283B"/>
                </a:solidFill>
                <a:latin typeface="SimSun"/>
                <a:cs typeface="SimSun"/>
              </a:rPr>
              <a:t>既然 </a:t>
            </a:r>
            <a:r>
              <a:rPr dirty="0" sz="1050" spc="35">
                <a:solidFill>
                  <a:srgbClr val="1D283B"/>
                </a:solidFill>
                <a:latin typeface="SimSun"/>
                <a:cs typeface="SimSun"/>
              </a:rPr>
              <a:t>Cookie</a:t>
            </a:r>
            <a:r>
              <a:rPr dirty="0" sz="1050" spc="-30">
                <a:solidFill>
                  <a:srgbClr val="1D283B"/>
                </a:solidFill>
                <a:latin typeface="SimSun"/>
                <a:cs typeface="SimSun"/>
              </a:rPr>
              <a:t> 通道被封死，就必须把 </a:t>
            </a:r>
            <a:r>
              <a:rPr dirty="0" sz="1050" spc="10">
                <a:solidFill>
                  <a:srgbClr val="1D283B"/>
                </a:solidFill>
                <a:latin typeface="SimSun"/>
                <a:cs typeface="SimSun"/>
              </a:rPr>
              <a:t>Session</a:t>
            </a:r>
            <a:r>
              <a:rPr dirty="0" sz="1050" spc="-85">
                <a:solidFill>
                  <a:srgbClr val="1D283B"/>
                </a:solidFill>
                <a:latin typeface="SimSun"/>
                <a:cs typeface="SimSun"/>
              </a:rPr>
              <a:t> </a:t>
            </a:r>
            <a:r>
              <a:rPr dirty="0" sz="1050" spc="-15">
                <a:solidFill>
                  <a:srgbClr val="1D283B"/>
                </a:solidFill>
                <a:latin typeface="SimSun"/>
                <a:cs typeface="SimSun"/>
              </a:rPr>
              <a:t>ID</a:t>
            </a:r>
            <a:r>
              <a:rPr dirty="0" sz="1050" spc="-20">
                <a:solidFill>
                  <a:srgbClr val="1D283B"/>
                </a:solidFill>
                <a:latin typeface="SimSun"/>
                <a:cs typeface="SimSun"/>
              </a:rPr>
              <a:t> 强行注入到用户的超链接网址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中。形如：</a:t>
            </a:r>
            <a:r>
              <a:rPr dirty="0" sz="1050">
                <a:solidFill>
                  <a:srgbClr val="1D283B"/>
                </a:solidFill>
                <a:latin typeface="Courier New"/>
                <a:cs typeface="Courier New"/>
                <a:hlinkClick r:id="rId3"/>
              </a:rPr>
              <a:t>http://localhost:8080/index.jsp;jsessionid=X101</a:t>
            </a:r>
            <a:r>
              <a:rPr dirty="0" sz="1050" spc="-30">
                <a:solidFill>
                  <a:srgbClr val="1D283B"/>
                </a:solidFill>
                <a:latin typeface="SimSun"/>
                <a:cs typeface="SimSun"/>
              </a:rPr>
              <a:t>。后端通过解析全局 </a:t>
            </a:r>
            <a:r>
              <a:rPr dirty="0" sz="1050" spc="135">
                <a:solidFill>
                  <a:srgbClr val="1D283B"/>
                </a:solidFill>
                <a:latin typeface="SimSun"/>
                <a:cs typeface="SimSun"/>
              </a:rPr>
              <a:t>URL</a:t>
            </a:r>
            <a:r>
              <a:rPr dirty="0" sz="1050" spc="-60">
                <a:solidFill>
                  <a:srgbClr val="1D283B"/>
                </a:solidFill>
                <a:latin typeface="SimSun"/>
                <a:cs typeface="SimSun"/>
              </a:rPr>
              <a:t> 路径中的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保留字段，依然可以找回对应的内存档案。</a:t>
            </a:r>
            <a:endParaRPr sz="1050">
              <a:latin typeface="SimSun"/>
              <a:cs typeface="SimSun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>
                <a:latin typeface="Palatino Linotype"/>
                <a:cs typeface="Palatino Linotype"/>
              </a:rPr>
              <a:t>Java</a:t>
            </a:r>
            <a:r>
              <a:rPr dirty="0" spc="55">
                <a:latin typeface="Palatino Linotype"/>
                <a:cs typeface="Palatino Linotype"/>
              </a:rPr>
              <a:t> </a:t>
            </a:r>
            <a:r>
              <a:rPr dirty="0">
                <a:latin typeface="Palatino Linotype"/>
                <a:cs typeface="Palatino Linotype"/>
              </a:rPr>
              <a:t>Web</a:t>
            </a:r>
            <a:r>
              <a:rPr dirty="0" spc="60">
                <a:latin typeface="Palatino Linotype"/>
                <a:cs typeface="Palatino Linotype"/>
              </a:rPr>
              <a:t> </a:t>
            </a:r>
            <a:r>
              <a:rPr dirty="0" spc="-40"/>
              <a:t>状态管理全景指南 — 开发与架构深度解析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100"/>
              <a:t>第 </a:t>
            </a:r>
            <a:fld id="{81D60167-4931-47E6-BA6A-407CBD079E47}" type="slidenum">
              <a:rPr dirty="0"/>
              <a:t>2</a:t>
            </a:fld>
            <a:r>
              <a:rPr dirty="0" spc="-125"/>
              <a:t> 页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527299" y="741765"/>
            <a:ext cx="6505575" cy="5977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1D283B"/>
                </a:solidFill>
                <a:latin typeface="Microsoft JhengHei"/>
                <a:cs typeface="Microsoft JhengHei"/>
              </a:rPr>
              <a:t>2.2 销毁场景（三大核心消亡时刻</a:t>
            </a:r>
            <a:r>
              <a:rPr dirty="0" sz="1150" spc="-50" b="1">
                <a:solidFill>
                  <a:srgbClr val="1D283B"/>
                </a:solidFill>
                <a:latin typeface="Microsoft JhengHei"/>
                <a:cs typeface="Microsoft JhengHei"/>
              </a:rPr>
              <a:t>）</a:t>
            </a:r>
            <a:endParaRPr sz="1150">
              <a:latin typeface="Microsoft JhengHei"/>
              <a:cs typeface="Microsoft JhengHei"/>
            </a:endParaRPr>
          </a:p>
          <a:p>
            <a:pPr marL="203200" marR="109855" indent="-146685">
              <a:lnSpc>
                <a:spcPct val="133300"/>
              </a:lnSpc>
              <a:spcBef>
                <a:spcPts val="765"/>
              </a:spcBef>
              <a:buClr>
                <a:srgbClr val="1D283B"/>
              </a:buClr>
              <a:buFont typeface="SimSun"/>
              <a:buAutoNum type="arabicPeriod"/>
              <a:tabLst>
                <a:tab pos="203200" algn="l"/>
              </a:tabLst>
            </a:pPr>
            <a:r>
              <a:rPr dirty="0" sz="1050" b="1">
                <a:solidFill>
                  <a:srgbClr val="E11C48"/>
                </a:solidFill>
                <a:latin typeface="Microsoft JhengHei"/>
                <a:cs typeface="Microsoft JhengHei"/>
              </a:rPr>
              <a:t>自然超时死亡（最普遍）：</a:t>
            </a:r>
            <a:r>
              <a:rPr dirty="0" sz="1050" spc="-15" b="1">
                <a:solidFill>
                  <a:srgbClr val="E11C48"/>
                </a:solidFill>
                <a:latin typeface="Microsoft JhengHei"/>
                <a:cs typeface="Microsoft JhengHei"/>
              </a:rPr>
              <a:t>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用户在设定的最大发呆时间</a:t>
            </a:r>
            <a:r>
              <a:rPr dirty="0" sz="1050" spc="90">
                <a:solidFill>
                  <a:srgbClr val="1D283B"/>
                </a:solidFill>
                <a:latin typeface="SimSun"/>
                <a:cs typeface="SimSun"/>
              </a:rPr>
              <a:t>（Max</a:t>
            </a:r>
            <a:r>
              <a:rPr dirty="0" sz="1050" spc="-275">
                <a:solidFill>
                  <a:srgbClr val="1D283B"/>
                </a:solidFill>
                <a:latin typeface="SimSun"/>
                <a:cs typeface="SimSun"/>
              </a:rPr>
              <a:t> </a:t>
            </a:r>
            <a:r>
              <a:rPr dirty="0" sz="1050" spc="-50">
                <a:solidFill>
                  <a:srgbClr val="1D283B"/>
                </a:solidFill>
                <a:latin typeface="SimSun"/>
                <a:cs typeface="SimSun"/>
              </a:rPr>
              <a:t>Inactive</a:t>
            </a:r>
            <a:r>
              <a:rPr dirty="0" sz="1050" spc="-275">
                <a:solidFill>
                  <a:srgbClr val="1D283B"/>
                </a:solidFill>
                <a:latin typeface="SimSun"/>
                <a:cs typeface="SimSun"/>
              </a:rPr>
              <a:t> </a:t>
            </a:r>
            <a:r>
              <a:rPr dirty="0" sz="1050" spc="-60">
                <a:solidFill>
                  <a:srgbClr val="1D283B"/>
                </a:solidFill>
                <a:latin typeface="SimSun"/>
                <a:cs typeface="SimSun"/>
              </a:rPr>
              <a:t>Interval，</a:t>
            </a:r>
            <a:r>
              <a:rPr dirty="0" sz="1050" spc="-50">
                <a:solidFill>
                  <a:srgbClr val="1D283B"/>
                </a:solidFill>
                <a:latin typeface="SimSun"/>
                <a:cs typeface="SimSun"/>
              </a:rPr>
              <a:t>默认通常为 </a:t>
            </a:r>
            <a:r>
              <a:rPr dirty="0" sz="1050" spc="55">
                <a:solidFill>
                  <a:srgbClr val="1D283B"/>
                </a:solidFill>
                <a:latin typeface="SimSun"/>
                <a:cs typeface="SimSun"/>
              </a:rPr>
              <a:t>30</a:t>
            </a:r>
            <a:r>
              <a:rPr dirty="0" sz="1050" spc="-95">
                <a:solidFill>
                  <a:srgbClr val="1D283B"/>
                </a:solidFill>
                <a:latin typeface="SimSun"/>
                <a:cs typeface="SimSun"/>
              </a:rPr>
              <a:t> 分钟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）</a:t>
            </a:r>
            <a:r>
              <a:rPr dirty="0" sz="1050" spc="-50">
                <a:solidFill>
                  <a:srgbClr val="1D283B"/>
                </a:solidFill>
                <a:latin typeface="SimSun"/>
                <a:cs typeface="SimSun"/>
              </a:rPr>
              <a:t>内</a:t>
            </a:r>
            <a:r>
              <a:rPr dirty="0" sz="1050" spc="-5">
                <a:solidFill>
                  <a:srgbClr val="1D283B"/>
                </a:solidFill>
                <a:latin typeface="SimSun"/>
                <a:cs typeface="SimSun"/>
              </a:rPr>
              <a:t>未向服务器发起任何交互。服务器的定时轮询线程认为该用户已离线，为释放宝贵的内存资源，主动将该</a:t>
            </a:r>
            <a:r>
              <a:rPr dirty="0" sz="1050" spc="-50">
                <a:solidFill>
                  <a:srgbClr val="1D283B"/>
                </a:solidFill>
                <a:latin typeface="SimSun"/>
                <a:cs typeface="SimSun"/>
              </a:rPr>
              <a:t>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Session</a:t>
            </a:r>
            <a:r>
              <a:rPr dirty="0" sz="1050" spc="-45">
                <a:solidFill>
                  <a:srgbClr val="1D283B"/>
                </a:solidFill>
                <a:latin typeface="SimSun"/>
                <a:cs typeface="SimSun"/>
              </a:rPr>
              <a:t> 对象予以销毁。</a:t>
            </a:r>
            <a:endParaRPr sz="1050">
              <a:latin typeface="SimSun"/>
              <a:cs typeface="SimSun"/>
            </a:endParaRPr>
          </a:p>
          <a:p>
            <a:pPr marL="202565" indent="-146050">
              <a:lnSpc>
                <a:spcPct val="100000"/>
              </a:lnSpc>
              <a:spcBef>
                <a:spcPts val="869"/>
              </a:spcBef>
              <a:buClr>
                <a:srgbClr val="1D283B"/>
              </a:buClr>
              <a:buFont typeface="SimSun"/>
              <a:buAutoNum type="arabicPeriod"/>
              <a:tabLst>
                <a:tab pos="202565" algn="l"/>
              </a:tabLst>
            </a:pPr>
            <a:r>
              <a:rPr dirty="0" sz="1050" b="1">
                <a:solidFill>
                  <a:srgbClr val="E11C48"/>
                </a:solidFill>
                <a:latin typeface="Microsoft JhengHei"/>
                <a:cs typeface="Microsoft JhengHei"/>
              </a:rPr>
              <a:t>程序强制执行（安全退出）：</a:t>
            </a:r>
            <a:r>
              <a:rPr dirty="0" sz="1050" spc="-30" b="1">
                <a:solidFill>
                  <a:srgbClr val="E11C48"/>
                </a:solidFill>
                <a:latin typeface="Microsoft JhengHei"/>
                <a:cs typeface="Microsoft JhengHei"/>
              </a:rPr>
              <a:t> </a:t>
            </a:r>
            <a:r>
              <a:rPr dirty="0" sz="1050" spc="-5">
                <a:solidFill>
                  <a:srgbClr val="1D283B"/>
                </a:solidFill>
                <a:latin typeface="SimSun"/>
                <a:cs typeface="SimSun"/>
              </a:rPr>
              <a:t>当用户点击“退出登录”按钮时，后端业务代码调用</a:t>
            </a:r>
            <a:endParaRPr sz="1050">
              <a:latin typeface="SimSun"/>
              <a:cs typeface="SimSun"/>
            </a:endParaRPr>
          </a:p>
          <a:p>
            <a:pPr marL="203200">
              <a:lnSpc>
                <a:spcPct val="100000"/>
              </a:lnSpc>
              <a:spcBef>
                <a:spcPts val="420"/>
              </a:spcBef>
            </a:pPr>
            <a:r>
              <a:rPr dirty="0" sz="1050">
                <a:solidFill>
                  <a:srgbClr val="1D283B"/>
                </a:solidFill>
                <a:latin typeface="Courier New"/>
                <a:cs typeface="Courier New"/>
              </a:rPr>
              <a:t>session.invalidate()</a:t>
            </a:r>
            <a:r>
              <a:rPr dirty="0" sz="1050" spc="-15">
                <a:solidFill>
                  <a:srgbClr val="1D283B"/>
                </a:solidFill>
                <a:latin typeface="SimSun"/>
                <a:cs typeface="SimSun"/>
              </a:rPr>
              <a:t>。该方法会立即解绑所有属性，并将该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Session</a:t>
            </a:r>
            <a:r>
              <a:rPr dirty="0" sz="1050" spc="-45">
                <a:solidFill>
                  <a:srgbClr val="1D283B"/>
                </a:solidFill>
                <a:latin typeface="SimSun"/>
                <a:cs typeface="SimSun"/>
              </a:rPr>
              <a:t> 实例从内存映射表中彻底抹除。</a:t>
            </a:r>
            <a:endParaRPr sz="1050">
              <a:latin typeface="SimSun"/>
              <a:cs typeface="SimSun"/>
            </a:endParaRPr>
          </a:p>
          <a:p>
            <a:pPr marL="203200" marR="53975" indent="-146685">
              <a:lnSpc>
                <a:spcPct val="133300"/>
              </a:lnSpc>
              <a:spcBef>
                <a:spcPts val="500"/>
              </a:spcBef>
              <a:buClr>
                <a:srgbClr val="1D283B"/>
              </a:buClr>
              <a:buFont typeface="SimSun"/>
              <a:buAutoNum type="arabicPeriod" startAt="3"/>
              <a:tabLst>
                <a:tab pos="203200" algn="l"/>
              </a:tabLst>
            </a:pPr>
            <a:r>
              <a:rPr dirty="0" sz="1050" spc="-10" b="1">
                <a:solidFill>
                  <a:srgbClr val="E11C48"/>
                </a:solidFill>
                <a:latin typeface="Microsoft JhengHei"/>
                <a:cs typeface="Microsoft JhengHei"/>
              </a:rPr>
              <a:t>服务器异常崩溃： </a:t>
            </a:r>
            <a:r>
              <a:rPr dirty="0" sz="1050" spc="-145">
                <a:solidFill>
                  <a:srgbClr val="1D283B"/>
                </a:solidFill>
                <a:latin typeface="SimSun"/>
                <a:cs typeface="SimSun"/>
              </a:rPr>
              <a:t>当 </a:t>
            </a:r>
            <a:r>
              <a:rPr dirty="0" sz="1050" spc="185">
                <a:solidFill>
                  <a:srgbClr val="1D283B"/>
                </a:solidFill>
                <a:latin typeface="SimSun"/>
                <a:cs typeface="SimSun"/>
              </a:rPr>
              <a:t>Web</a:t>
            </a:r>
            <a:r>
              <a:rPr dirty="0" sz="1050" spc="-100">
                <a:solidFill>
                  <a:srgbClr val="1D283B"/>
                </a:solidFill>
                <a:latin typeface="SimSun"/>
                <a:cs typeface="SimSun"/>
              </a:rPr>
              <a:t> 容器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（</a:t>
            </a:r>
            <a:r>
              <a:rPr dirty="0" sz="1050" spc="-145">
                <a:solidFill>
                  <a:srgbClr val="1D283B"/>
                </a:solidFill>
                <a:latin typeface="SimSun"/>
                <a:cs typeface="SimSun"/>
              </a:rPr>
              <a:t>如 </a:t>
            </a:r>
            <a:r>
              <a:rPr dirty="0" sz="1050" spc="65">
                <a:solidFill>
                  <a:srgbClr val="1D283B"/>
                </a:solidFill>
                <a:latin typeface="SimSun"/>
                <a:cs typeface="SimSun"/>
              </a:rPr>
              <a:t>Tomcat）</a:t>
            </a:r>
            <a:r>
              <a:rPr dirty="0" sz="1050" spc="-15">
                <a:solidFill>
                  <a:srgbClr val="1D283B"/>
                </a:solidFill>
                <a:latin typeface="SimSun"/>
                <a:cs typeface="SimSun"/>
              </a:rPr>
              <a:t>遭遇非正常关闭、进程被杀或突发断电时，运行在 </a:t>
            </a:r>
            <a:r>
              <a:rPr dirty="0" sz="1050" spc="145">
                <a:solidFill>
                  <a:srgbClr val="1D283B"/>
                </a:solidFill>
                <a:latin typeface="SimSun"/>
                <a:cs typeface="SimSun"/>
              </a:rPr>
              <a:t>JVM</a:t>
            </a:r>
            <a:r>
              <a:rPr dirty="0" sz="1050" spc="-114">
                <a:solidFill>
                  <a:srgbClr val="1D283B"/>
                </a:solidFill>
                <a:latin typeface="SimSun"/>
                <a:cs typeface="SimSun"/>
              </a:rPr>
              <a:t> 内存</a:t>
            </a:r>
            <a:r>
              <a:rPr dirty="0" sz="1050" spc="-55">
                <a:solidFill>
                  <a:srgbClr val="1D283B"/>
                </a:solidFill>
                <a:latin typeface="SimSun"/>
                <a:cs typeface="SimSun"/>
              </a:rPr>
              <a:t>中的所有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Session</a:t>
            </a:r>
            <a:r>
              <a:rPr dirty="0" sz="1050" spc="-45">
                <a:solidFill>
                  <a:srgbClr val="1D283B"/>
                </a:solidFill>
                <a:latin typeface="SimSun"/>
                <a:cs typeface="SimSun"/>
              </a:rPr>
              <a:t> 都会瞬间阵亡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（正常关闭则会触发钝化，见下文）</a:t>
            </a:r>
            <a:r>
              <a:rPr dirty="0" sz="1050" spc="-50">
                <a:solidFill>
                  <a:srgbClr val="1D283B"/>
                </a:solidFill>
                <a:latin typeface="SimSun"/>
                <a:cs typeface="SimSun"/>
              </a:rPr>
              <a:t>。</a:t>
            </a:r>
            <a:endParaRPr sz="1050">
              <a:latin typeface="SimSun"/>
              <a:cs typeface="SimSun"/>
            </a:endParaRPr>
          </a:p>
          <a:p>
            <a:pPr>
              <a:lnSpc>
                <a:spcPct val="100000"/>
              </a:lnSpc>
              <a:buClr>
                <a:srgbClr val="1D283B"/>
              </a:buClr>
              <a:buFont typeface="SimSun"/>
              <a:buAutoNum type="arabicPeriod" startAt="3"/>
            </a:pPr>
            <a:endParaRPr sz="10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1D283B"/>
              </a:buClr>
              <a:buFont typeface="SimSun"/>
              <a:buAutoNum type="arabicPeriod" startAt="3"/>
            </a:pPr>
            <a:endParaRPr sz="1050">
              <a:latin typeface="SimSun"/>
              <a:cs typeface="SimSun"/>
            </a:endParaRPr>
          </a:p>
          <a:p>
            <a:pPr lvl="1" marL="348615" indent="-202565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348615" algn="l"/>
              </a:tabLst>
            </a:pPr>
            <a:r>
              <a:rPr dirty="0" sz="1400" b="1">
                <a:solidFill>
                  <a:srgbClr val="0F162A"/>
                </a:solidFill>
                <a:latin typeface="Microsoft JhengHei"/>
                <a:cs typeface="Microsoft JhengHei"/>
              </a:rPr>
              <a:t>图文思路：禁用 Cookie 后 Session</a:t>
            </a:r>
            <a:r>
              <a:rPr dirty="0" sz="1400" spc="-10" b="1">
                <a:solidFill>
                  <a:srgbClr val="0F162A"/>
                </a:solidFill>
                <a:latin typeface="Microsoft JhengHei"/>
                <a:cs typeface="Microsoft JhengHei"/>
              </a:rPr>
              <a:t> 失效的底层原理</a:t>
            </a:r>
            <a:endParaRPr sz="1400">
              <a:latin typeface="Microsoft JhengHei"/>
              <a:cs typeface="Microsoft JhengHei"/>
            </a:endParaRPr>
          </a:p>
          <a:p>
            <a:pPr marL="12700" marR="5080">
              <a:lnSpc>
                <a:spcPct val="133300"/>
              </a:lnSpc>
              <a:spcBef>
                <a:spcPts val="1180"/>
              </a:spcBef>
            </a:pP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Session</a:t>
            </a:r>
            <a:r>
              <a:rPr dirty="0" sz="1050" spc="-15">
                <a:solidFill>
                  <a:srgbClr val="1D283B"/>
                </a:solidFill>
                <a:latin typeface="SimSun"/>
                <a:cs typeface="SimSun"/>
              </a:rPr>
              <a:t> 的正常工作严重依赖于客户端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Cookie</a:t>
            </a:r>
            <a:r>
              <a:rPr dirty="0" sz="1050" spc="-15">
                <a:solidFill>
                  <a:srgbClr val="1D283B"/>
                </a:solidFill>
                <a:latin typeface="SimSun"/>
                <a:cs typeface="SimSun"/>
              </a:rPr>
              <a:t> 的配合。一旦浏览器在隐私设置中彻底禁用了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Cookie，</a:t>
            </a:r>
            <a:r>
              <a:rPr dirty="0" sz="1050" spc="-20">
                <a:solidFill>
                  <a:srgbClr val="1D283B"/>
                </a:solidFill>
                <a:latin typeface="SimSun"/>
                <a:cs typeface="SimSun"/>
              </a:rPr>
              <a:t>整个会</a:t>
            </a:r>
            <a:r>
              <a:rPr dirty="0" sz="1050" spc="-5">
                <a:solidFill>
                  <a:srgbClr val="1D283B"/>
                </a:solidFill>
                <a:latin typeface="SimSun"/>
                <a:cs typeface="SimSun"/>
              </a:rPr>
              <a:t>话追踪机制将会陷入死循环。</a:t>
            </a:r>
            <a:endParaRPr sz="10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050">
              <a:latin typeface="SimSun"/>
              <a:cs typeface="SimSun"/>
            </a:endParaRPr>
          </a:p>
          <a:p>
            <a:pPr marL="389890">
              <a:lnSpc>
                <a:spcPct val="100000"/>
              </a:lnSpc>
            </a:pPr>
            <a:r>
              <a:rPr dirty="0" sz="1050" spc="-5" b="1">
                <a:solidFill>
                  <a:srgbClr val="0369A1"/>
                </a:solidFill>
                <a:latin typeface="Microsoft JhengHei"/>
                <a:cs typeface="Microsoft JhengHei"/>
              </a:rPr>
              <a:t>状态追踪失效的底层演进流程</a:t>
            </a:r>
            <a:endParaRPr sz="1050">
              <a:latin typeface="Microsoft JhengHei"/>
              <a:cs typeface="Microsoft JhengHei"/>
            </a:endParaRPr>
          </a:p>
          <a:p>
            <a:pPr lvl="2" marL="383540" indent="-146050">
              <a:lnSpc>
                <a:spcPct val="100000"/>
              </a:lnSpc>
              <a:spcBef>
                <a:spcPts val="840"/>
              </a:spcBef>
              <a:buFont typeface="SimSun"/>
              <a:buAutoNum type="arabicPeriod"/>
              <a:tabLst>
                <a:tab pos="383540" algn="l"/>
              </a:tabLst>
            </a:pPr>
            <a:r>
              <a:rPr dirty="0" sz="1050" b="1">
                <a:solidFill>
                  <a:srgbClr val="1D283B"/>
                </a:solidFill>
                <a:latin typeface="Microsoft JhengHei"/>
                <a:cs typeface="Microsoft JhengHei"/>
              </a:rPr>
              <a:t>发起初次交互： </a:t>
            </a:r>
            <a:r>
              <a:rPr dirty="0" sz="1050" spc="-15">
                <a:solidFill>
                  <a:srgbClr val="1D283B"/>
                </a:solidFill>
                <a:latin typeface="SimSun"/>
                <a:cs typeface="SimSun"/>
              </a:rPr>
              <a:t>客户端浏览器向服务器发送普通的 </a:t>
            </a:r>
            <a:r>
              <a:rPr dirty="0" sz="1050" spc="140">
                <a:solidFill>
                  <a:srgbClr val="1D283B"/>
                </a:solidFill>
                <a:latin typeface="SimSun"/>
                <a:cs typeface="SimSun"/>
              </a:rPr>
              <a:t>HTTP</a:t>
            </a:r>
            <a:r>
              <a:rPr dirty="0" sz="1050" spc="-80">
                <a:solidFill>
                  <a:srgbClr val="1D283B"/>
                </a:solidFill>
                <a:latin typeface="SimSun"/>
                <a:cs typeface="SimSun"/>
              </a:rPr>
              <a:t> 请求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（</a:t>
            </a:r>
            <a:r>
              <a:rPr dirty="0" sz="1050" spc="-35">
                <a:solidFill>
                  <a:srgbClr val="1D283B"/>
                </a:solidFill>
                <a:latin typeface="SimSun"/>
                <a:cs typeface="SimSun"/>
              </a:rPr>
              <a:t>此时不带任何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Cookie）</a:t>
            </a:r>
            <a:r>
              <a:rPr dirty="0" sz="1050" spc="-50">
                <a:solidFill>
                  <a:srgbClr val="1D283B"/>
                </a:solidFill>
                <a:latin typeface="SimSun"/>
                <a:cs typeface="SimSun"/>
              </a:rPr>
              <a:t>。</a:t>
            </a:r>
            <a:endParaRPr sz="1050">
              <a:latin typeface="SimSun"/>
              <a:cs typeface="SimSun"/>
            </a:endParaRPr>
          </a:p>
          <a:p>
            <a:pPr lvl="2" marL="383540" indent="-146050">
              <a:lnSpc>
                <a:spcPct val="100000"/>
              </a:lnSpc>
              <a:spcBef>
                <a:spcPts val="869"/>
              </a:spcBef>
              <a:buFont typeface="SimSun"/>
              <a:buAutoNum type="arabicPeriod"/>
              <a:tabLst>
                <a:tab pos="383540" algn="l"/>
              </a:tabLst>
            </a:pPr>
            <a:r>
              <a:rPr dirty="0" sz="1050" spc="-5" b="1">
                <a:solidFill>
                  <a:srgbClr val="1D283B"/>
                </a:solidFill>
                <a:latin typeface="Microsoft JhengHei"/>
                <a:cs typeface="Microsoft JhengHei"/>
              </a:rPr>
              <a:t>服务端建档重响应： </a:t>
            </a:r>
            <a:r>
              <a:rPr dirty="0" sz="1050" spc="-55">
                <a:solidFill>
                  <a:srgbClr val="1D283B"/>
                </a:solidFill>
                <a:latin typeface="SimSun"/>
                <a:cs typeface="SimSun"/>
              </a:rPr>
              <a:t>后端执行 </a:t>
            </a:r>
            <a:r>
              <a:rPr dirty="0" sz="1050">
                <a:solidFill>
                  <a:srgbClr val="1D283B"/>
                </a:solidFill>
                <a:latin typeface="Courier New"/>
                <a:cs typeface="Courier New"/>
              </a:rPr>
              <a:t>request.getSession()</a:t>
            </a:r>
            <a:r>
              <a:rPr dirty="0" sz="1050" spc="-35">
                <a:solidFill>
                  <a:srgbClr val="1D283B"/>
                </a:solidFill>
                <a:latin typeface="SimSun"/>
                <a:cs typeface="SimSun"/>
              </a:rPr>
              <a:t>，在内存里构建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Session</a:t>
            </a:r>
            <a:r>
              <a:rPr dirty="0" sz="1050" spc="-70">
                <a:solidFill>
                  <a:srgbClr val="1D283B"/>
                </a:solidFill>
                <a:latin typeface="SimSun"/>
                <a:cs typeface="SimSun"/>
              </a:rPr>
              <a:t> 实体，生成唯一 </a:t>
            </a:r>
            <a:r>
              <a:rPr dirty="0" sz="1050" spc="-25">
                <a:solidFill>
                  <a:srgbClr val="1D283B"/>
                </a:solidFill>
                <a:latin typeface="SimSun"/>
                <a:cs typeface="SimSun"/>
              </a:rPr>
              <a:t>ID</a:t>
            </a:r>
            <a:endParaRPr sz="1050">
              <a:latin typeface="SimSun"/>
              <a:cs typeface="SimSun"/>
            </a:endParaRPr>
          </a:p>
          <a:p>
            <a:pPr marL="384175" marR="1466850">
              <a:lnSpc>
                <a:spcPts val="1780"/>
              </a:lnSpc>
              <a:spcBef>
                <a:spcPts val="95"/>
              </a:spcBef>
            </a:pP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（</a:t>
            </a:r>
            <a:r>
              <a:rPr dirty="0" sz="1050" spc="-100">
                <a:solidFill>
                  <a:srgbClr val="1D283B"/>
                </a:solidFill>
                <a:latin typeface="SimSun"/>
                <a:cs typeface="SimSun"/>
              </a:rPr>
              <a:t>例如 </a:t>
            </a:r>
            <a:r>
              <a:rPr dirty="0" sz="1050" spc="-10" b="1" i="1">
                <a:solidFill>
                  <a:srgbClr val="0F162A"/>
                </a:solidFill>
                <a:latin typeface="Times New Roman"/>
                <a:cs typeface="Times New Roman"/>
              </a:rPr>
              <a:t>JSESSIONID = </a:t>
            </a:r>
            <a:r>
              <a:rPr dirty="0" sz="1050" b="1" i="1">
                <a:solidFill>
                  <a:srgbClr val="0F162A"/>
                </a:solidFill>
                <a:latin typeface="Times New Roman"/>
                <a:cs typeface="Times New Roman"/>
              </a:rPr>
              <a:t>X101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）。服务器在响应报文中附加报头：</a:t>
            </a:r>
            <a:r>
              <a:rPr dirty="0" sz="1050">
                <a:solidFill>
                  <a:srgbClr val="1D283B"/>
                </a:solidFill>
                <a:latin typeface="Courier New"/>
                <a:cs typeface="Courier New"/>
              </a:rPr>
              <a:t>Set-</a:t>
            </a:r>
            <a:r>
              <a:rPr dirty="0" sz="1050" spc="-10">
                <a:solidFill>
                  <a:srgbClr val="1D283B"/>
                </a:solidFill>
                <a:latin typeface="Courier New"/>
                <a:cs typeface="Courier New"/>
              </a:rPr>
              <a:t>Cookie: </a:t>
            </a:r>
            <a:r>
              <a:rPr dirty="0" sz="1050">
                <a:solidFill>
                  <a:srgbClr val="1D283B"/>
                </a:solidFill>
                <a:latin typeface="Courier New"/>
                <a:cs typeface="Courier New"/>
              </a:rPr>
              <a:t>JSESSIONID=X101;</a:t>
            </a:r>
            <a:r>
              <a:rPr dirty="0" sz="1050" spc="-5">
                <a:solidFill>
                  <a:srgbClr val="1D283B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D283B"/>
                </a:solidFill>
                <a:latin typeface="Courier New"/>
                <a:cs typeface="Courier New"/>
              </a:rPr>
              <a:t>Path=/</a:t>
            </a:r>
            <a:r>
              <a:rPr dirty="0" sz="1050" spc="-50">
                <a:solidFill>
                  <a:srgbClr val="1D283B"/>
                </a:solidFill>
                <a:latin typeface="SimSun"/>
                <a:cs typeface="SimSun"/>
              </a:rPr>
              <a:t>。</a:t>
            </a:r>
            <a:endParaRPr sz="1050">
              <a:latin typeface="SimSun"/>
              <a:cs typeface="SimSun"/>
            </a:endParaRPr>
          </a:p>
          <a:p>
            <a:pPr lvl="2" marL="384175" marR="228600" indent="-146685">
              <a:lnSpc>
                <a:spcPct val="137300"/>
              </a:lnSpc>
              <a:spcBef>
                <a:spcPts val="310"/>
              </a:spcBef>
              <a:buFont typeface="SimSun"/>
              <a:buAutoNum type="arabicPeriod" startAt="3"/>
              <a:tabLst>
                <a:tab pos="384175" algn="l"/>
              </a:tabLst>
            </a:pPr>
            <a:r>
              <a:rPr dirty="0" sz="1050" b="1">
                <a:solidFill>
                  <a:srgbClr val="1D283B"/>
                </a:solidFill>
                <a:latin typeface="Microsoft JhengHei"/>
                <a:cs typeface="Microsoft JhengHei"/>
              </a:rPr>
              <a:t>客户端强行拒收： </a:t>
            </a:r>
            <a:r>
              <a:rPr dirty="0" sz="1050" spc="-30">
                <a:solidFill>
                  <a:srgbClr val="1D283B"/>
                </a:solidFill>
                <a:latin typeface="SimSun"/>
                <a:cs typeface="SimSun"/>
              </a:rPr>
              <a:t>由于浏览器禁用了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Cookie，</a:t>
            </a:r>
            <a:r>
              <a:rPr dirty="0" sz="1050" spc="-25">
                <a:solidFill>
                  <a:srgbClr val="1D283B"/>
                </a:solidFill>
                <a:latin typeface="SimSun"/>
                <a:cs typeface="SimSun"/>
              </a:rPr>
              <a:t>在收到响应后，直接将 </a:t>
            </a:r>
            <a:r>
              <a:rPr dirty="0" sz="1050">
                <a:solidFill>
                  <a:srgbClr val="1D283B"/>
                </a:solidFill>
                <a:latin typeface="Courier New"/>
                <a:cs typeface="Courier New"/>
              </a:rPr>
              <a:t>Set-Cookie</a:t>
            </a:r>
            <a:r>
              <a:rPr dirty="0" sz="1050" spc="-355">
                <a:solidFill>
                  <a:srgbClr val="1D283B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1D283B"/>
                </a:solidFill>
                <a:latin typeface="SimSun"/>
                <a:cs typeface="SimSun"/>
              </a:rPr>
              <a:t>里的数据丢弃，</a:t>
            </a:r>
            <a:r>
              <a:rPr dirty="0" sz="1050" spc="-5">
                <a:solidFill>
                  <a:srgbClr val="1D283B"/>
                </a:solidFill>
                <a:latin typeface="SimSun"/>
                <a:cs typeface="SimSun"/>
              </a:rPr>
              <a:t>不进行任何本地持久化。</a:t>
            </a:r>
            <a:endParaRPr sz="1050">
              <a:latin typeface="SimSun"/>
              <a:cs typeface="SimSun"/>
            </a:endParaRPr>
          </a:p>
          <a:p>
            <a:pPr lvl="2" marL="384175" marR="154305" indent="-146685">
              <a:lnSpc>
                <a:spcPct val="133300"/>
              </a:lnSpc>
              <a:spcBef>
                <a:spcPts val="450"/>
              </a:spcBef>
              <a:buFont typeface="SimSun"/>
              <a:buAutoNum type="arabicPeriod" startAt="3"/>
              <a:tabLst>
                <a:tab pos="384175" algn="l"/>
              </a:tabLst>
            </a:pPr>
            <a:r>
              <a:rPr dirty="0" sz="1050" b="1">
                <a:solidFill>
                  <a:srgbClr val="1D283B"/>
                </a:solidFill>
                <a:latin typeface="Microsoft JhengHei"/>
                <a:cs typeface="Microsoft JhengHei"/>
              </a:rPr>
              <a:t>后续请求穿透： </a:t>
            </a:r>
            <a:r>
              <a:rPr dirty="0" sz="1050" spc="-15">
                <a:solidFill>
                  <a:srgbClr val="1D283B"/>
                </a:solidFill>
                <a:latin typeface="SimSun"/>
                <a:cs typeface="SimSun"/>
              </a:rPr>
              <a:t>用户点击页面下一步。由于本地没有存储任何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Cookie，</a:t>
            </a:r>
            <a:r>
              <a:rPr dirty="0" sz="1050" spc="-35">
                <a:solidFill>
                  <a:srgbClr val="1D283B"/>
                </a:solidFill>
                <a:latin typeface="SimSun"/>
                <a:cs typeface="SimSun"/>
              </a:rPr>
              <a:t>浏览器发出的新 </a:t>
            </a:r>
            <a:r>
              <a:rPr dirty="0" sz="1050" spc="140">
                <a:solidFill>
                  <a:srgbClr val="1D283B"/>
                </a:solidFill>
                <a:latin typeface="SimSun"/>
                <a:cs typeface="SimSun"/>
              </a:rPr>
              <a:t>HTTP</a:t>
            </a:r>
            <a:r>
              <a:rPr dirty="0" sz="1050" spc="-80">
                <a:solidFill>
                  <a:srgbClr val="1D283B"/>
                </a:solidFill>
                <a:latin typeface="SimSun"/>
                <a:cs typeface="SimSun"/>
              </a:rPr>
              <a:t> 请求中</a:t>
            </a:r>
            <a:r>
              <a:rPr dirty="0" sz="1050" spc="-75">
                <a:solidFill>
                  <a:srgbClr val="1D283B"/>
                </a:solidFill>
                <a:latin typeface="SimSun"/>
                <a:cs typeface="SimSun"/>
              </a:rPr>
              <a:t>不包含 </a:t>
            </a:r>
            <a:r>
              <a:rPr dirty="0" sz="1050">
                <a:solidFill>
                  <a:srgbClr val="1D283B"/>
                </a:solidFill>
                <a:latin typeface="Courier New"/>
                <a:cs typeface="Courier New"/>
              </a:rPr>
              <a:t>Cookie:</a:t>
            </a:r>
            <a:r>
              <a:rPr dirty="0" sz="1050" spc="-5">
                <a:solidFill>
                  <a:srgbClr val="1D283B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D283B"/>
                </a:solidFill>
                <a:latin typeface="Courier New"/>
                <a:cs typeface="Courier New"/>
              </a:rPr>
              <a:t>JSESSIONID=...</a:t>
            </a:r>
            <a:r>
              <a:rPr dirty="0" sz="1050" spc="-395">
                <a:solidFill>
                  <a:srgbClr val="1D283B"/>
                </a:solidFill>
                <a:latin typeface="Courier New"/>
                <a:cs typeface="Courier New"/>
              </a:rPr>
              <a:t> </a:t>
            </a:r>
            <a:r>
              <a:rPr dirty="0" sz="1050" spc="-25">
                <a:solidFill>
                  <a:srgbClr val="1D283B"/>
                </a:solidFill>
                <a:latin typeface="SimSun"/>
                <a:cs typeface="SimSun"/>
              </a:rPr>
              <a:t>头。</a:t>
            </a:r>
            <a:endParaRPr sz="1050">
              <a:latin typeface="SimSun"/>
              <a:cs typeface="SimSun"/>
            </a:endParaRPr>
          </a:p>
          <a:p>
            <a:pPr lvl="2" marL="384175" marR="215900" indent="-146685">
              <a:lnSpc>
                <a:spcPct val="133300"/>
              </a:lnSpc>
              <a:spcBef>
                <a:spcPts val="500"/>
              </a:spcBef>
              <a:buFont typeface="SimSun"/>
              <a:buAutoNum type="arabicPeriod" startAt="3"/>
              <a:tabLst>
                <a:tab pos="384175" algn="l"/>
              </a:tabLst>
            </a:pPr>
            <a:r>
              <a:rPr dirty="0" sz="1050" b="1">
                <a:solidFill>
                  <a:srgbClr val="1D283B"/>
                </a:solidFill>
                <a:latin typeface="Microsoft JhengHei"/>
                <a:cs typeface="Microsoft JhengHei"/>
              </a:rPr>
              <a:t>服务器重新建档（状态丢失）：</a:t>
            </a:r>
            <a:r>
              <a:rPr dirty="0" sz="1050" spc="-70" b="1">
                <a:solidFill>
                  <a:srgbClr val="1D283B"/>
                </a:solidFill>
                <a:latin typeface="Microsoft JhengHei"/>
                <a:cs typeface="Microsoft JhengHei"/>
              </a:rPr>
              <a:t> </a:t>
            </a:r>
            <a:r>
              <a:rPr dirty="0" sz="1050" spc="-5">
                <a:solidFill>
                  <a:srgbClr val="1D283B"/>
                </a:solidFill>
                <a:latin typeface="SimSun"/>
                <a:cs typeface="SimSun"/>
              </a:rPr>
              <a:t>服务器接收到请求，发现没有带卡号，误以为是新用户到访。再次被</a:t>
            </a:r>
            <a:r>
              <a:rPr dirty="0" sz="1050" spc="-20">
                <a:solidFill>
                  <a:srgbClr val="1D283B"/>
                </a:solidFill>
                <a:latin typeface="SimSun"/>
                <a:cs typeface="SimSun"/>
              </a:rPr>
              <a:t>迫执行一遍创建流程，生成全新的 </a:t>
            </a:r>
            <a:r>
              <a:rPr dirty="0" sz="1050" spc="-10" b="1" i="1">
                <a:solidFill>
                  <a:srgbClr val="0F162A"/>
                </a:solidFill>
                <a:latin typeface="Times New Roman"/>
                <a:cs typeface="Times New Roman"/>
              </a:rPr>
              <a:t>JSESSIONID</a:t>
            </a:r>
            <a:r>
              <a:rPr dirty="0" sz="1050" spc="-15" b="1" i="1">
                <a:solidFill>
                  <a:srgbClr val="0F162A"/>
                </a:solidFill>
                <a:latin typeface="Times New Roman"/>
                <a:cs typeface="Times New Roman"/>
              </a:rPr>
              <a:t> = </a:t>
            </a:r>
            <a:r>
              <a:rPr dirty="0" sz="1050" b="1" i="1">
                <a:solidFill>
                  <a:srgbClr val="0F162A"/>
                </a:solidFill>
                <a:latin typeface="Times New Roman"/>
                <a:cs typeface="Times New Roman"/>
              </a:rPr>
              <a:t>Y202</a:t>
            </a:r>
            <a:r>
              <a:rPr dirty="0" sz="1050" spc="-50">
                <a:solidFill>
                  <a:srgbClr val="1D283B"/>
                </a:solidFill>
                <a:latin typeface="SimSun"/>
                <a:cs typeface="SimSun"/>
              </a:rPr>
              <a:t>。</a:t>
            </a:r>
            <a:endParaRPr sz="10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40000" y="720000"/>
            <a:ext cx="38100" cy="284480"/>
          </a:xfrm>
          <a:custGeom>
            <a:avLst/>
            <a:gdLst/>
            <a:ahLst/>
            <a:cxnLst/>
            <a:rect l="l" t="t" r="r" b="b"/>
            <a:pathLst>
              <a:path w="38100" h="284480">
                <a:moveTo>
                  <a:pt x="38100" y="284480"/>
                </a:moveTo>
                <a:lnTo>
                  <a:pt x="0" y="284480"/>
                </a:lnTo>
                <a:lnTo>
                  <a:pt x="0" y="0"/>
                </a:lnTo>
                <a:lnTo>
                  <a:pt x="38100" y="0"/>
                </a:lnTo>
                <a:lnTo>
                  <a:pt x="38100" y="284480"/>
                </a:lnTo>
                <a:close/>
              </a:path>
            </a:pathLst>
          </a:custGeom>
          <a:solidFill>
            <a:srgbClr val="0183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40000" y="5592990"/>
            <a:ext cx="38100" cy="284480"/>
          </a:xfrm>
          <a:custGeom>
            <a:avLst/>
            <a:gdLst/>
            <a:ahLst/>
            <a:cxnLst/>
            <a:rect l="l" t="t" r="r" b="b"/>
            <a:pathLst>
              <a:path w="38100" h="284479">
                <a:moveTo>
                  <a:pt x="38100" y="284480"/>
                </a:moveTo>
                <a:lnTo>
                  <a:pt x="0" y="284480"/>
                </a:lnTo>
                <a:lnTo>
                  <a:pt x="0" y="0"/>
                </a:lnTo>
                <a:lnTo>
                  <a:pt x="38100" y="0"/>
                </a:lnTo>
                <a:lnTo>
                  <a:pt x="38100" y="284480"/>
                </a:lnTo>
                <a:close/>
              </a:path>
            </a:pathLst>
          </a:custGeom>
          <a:solidFill>
            <a:srgbClr val="0183C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540000" y="7329739"/>
            <a:ext cx="6480175" cy="2070735"/>
            <a:chOff x="540000" y="7329739"/>
            <a:chExt cx="6480175" cy="2070735"/>
          </a:xfrm>
        </p:grpSpPr>
        <p:sp>
          <p:nvSpPr>
            <p:cNvPr id="5" name="object 5" descr=""/>
            <p:cNvSpPr/>
            <p:nvPr/>
          </p:nvSpPr>
          <p:spPr>
            <a:xfrm>
              <a:off x="540000" y="7329739"/>
              <a:ext cx="6480175" cy="2070735"/>
            </a:xfrm>
            <a:custGeom>
              <a:avLst/>
              <a:gdLst/>
              <a:ahLst/>
              <a:cxnLst/>
              <a:rect l="l" t="t" r="r" b="b"/>
              <a:pathLst>
                <a:path w="6480175" h="2070734">
                  <a:moveTo>
                    <a:pt x="6422850" y="2070394"/>
                  </a:moveTo>
                  <a:lnTo>
                    <a:pt x="57150" y="2070394"/>
                  </a:lnTo>
                  <a:lnTo>
                    <a:pt x="34959" y="2065885"/>
                  </a:lnTo>
                  <a:lnTo>
                    <a:pt x="16787" y="2053606"/>
                  </a:lnTo>
                  <a:lnTo>
                    <a:pt x="4509" y="2035434"/>
                  </a:lnTo>
                  <a:lnTo>
                    <a:pt x="0" y="2013244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6422850" y="0"/>
                  </a:lnTo>
                  <a:lnTo>
                    <a:pt x="6445040" y="4509"/>
                  </a:lnTo>
                  <a:lnTo>
                    <a:pt x="6463212" y="16787"/>
                  </a:lnTo>
                  <a:lnTo>
                    <a:pt x="6475490" y="34959"/>
                  </a:lnTo>
                  <a:lnTo>
                    <a:pt x="6480000" y="57150"/>
                  </a:lnTo>
                  <a:lnTo>
                    <a:pt x="6480000" y="2013244"/>
                  </a:lnTo>
                  <a:lnTo>
                    <a:pt x="6475490" y="2035434"/>
                  </a:lnTo>
                  <a:lnTo>
                    <a:pt x="6463212" y="2053606"/>
                  </a:lnTo>
                  <a:lnTo>
                    <a:pt x="6445040" y="2065885"/>
                  </a:lnTo>
                  <a:lnTo>
                    <a:pt x="6422850" y="2070394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40000" y="7346527"/>
              <a:ext cx="32384" cy="2037080"/>
            </a:xfrm>
            <a:custGeom>
              <a:avLst/>
              <a:gdLst/>
              <a:ahLst/>
              <a:cxnLst/>
              <a:rect l="l" t="t" r="r" b="b"/>
              <a:pathLst>
                <a:path w="32384" h="2037079">
                  <a:moveTo>
                    <a:pt x="16787" y="2036819"/>
                  </a:moveTo>
                  <a:lnTo>
                    <a:pt x="4509" y="2018647"/>
                  </a:lnTo>
                  <a:lnTo>
                    <a:pt x="0" y="1996456"/>
                  </a:lnTo>
                  <a:lnTo>
                    <a:pt x="0" y="40362"/>
                  </a:lnTo>
                  <a:lnTo>
                    <a:pt x="4509" y="18171"/>
                  </a:lnTo>
                  <a:lnTo>
                    <a:pt x="16787" y="0"/>
                  </a:lnTo>
                  <a:lnTo>
                    <a:pt x="31872" y="15084"/>
                  </a:lnTo>
                  <a:lnTo>
                    <a:pt x="30829" y="18171"/>
                  </a:lnTo>
                  <a:lnTo>
                    <a:pt x="28575" y="40362"/>
                  </a:lnTo>
                  <a:lnTo>
                    <a:pt x="28575" y="1996456"/>
                  </a:lnTo>
                  <a:lnTo>
                    <a:pt x="30829" y="2018647"/>
                  </a:lnTo>
                  <a:lnTo>
                    <a:pt x="31872" y="2021734"/>
                  </a:lnTo>
                  <a:lnTo>
                    <a:pt x="16787" y="2036819"/>
                  </a:lnTo>
                  <a:close/>
                </a:path>
              </a:pathLst>
            </a:custGeom>
            <a:solidFill>
              <a:srgbClr val="38BC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60649" y="749261"/>
            <a:ext cx="35794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F162A"/>
                </a:solidFill>
                <a:latin typeface="Microsoft JhengHei"/>
                <a:cs typeface="Microsoft JhengHei"/>
              </a:rPr>
              <a:t>4. 对比分析：Cookie</a:t>
            </a:r>
            <a:r>
              <a:rPr dirty="0" sz="1400" spc="15" b="1">
                <a:solidFill>
                  <a:srgbClr val="0F162A"/>
                </a:solidFill>
                <a:latin typeface="Microsoft JhengHei"/>
                <a:cs typeface="Microsoft JhengHei"/>
              </a:rPr>
              <a:t> 与 </a:t>
            </a:r>
            <a:r>
              <a:rPr dirty="0" sz="1400" b="1">
                <a:solidFill>
                  <a:srgbClr val="0F162A"/>
                </a:solidFill>
                <a:latin typeface="Microsoft JhengHei"/>
                <a:cs typeface="Microsoft JhengHei"/>
              </a:rPr>
              <a:t>Session</a:t>
            </a:r>
            <a:r>
              <a:rPr dirty="0" sz="1400" spc="-10" b="1">
                <a:solidFill>
                  <a:srgbClr val="0F162A"/>
                </a:solidFill>
                <a:latin typeface="Microsoft JhengHei"/>
                <a:cs typeface="Microsoft JhengHei"/>
              </a:rPr>
              <a:t> 的技术博弈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>
                <a:latin typeface="Palatino Linotype"/>
                <a:cs typeface="Palatino Linotype"/>
              </a:rPr>
              <a:t>Java</a:t>
            </a:r>
            <a:r>
              <a:rPr dirty="0" spc="55">
                <a:latin typeface="Palatino Linotype"/>
                <a:cs typeface="Palatino Linotype"/>
              </a:rPr>
              <a:t> </a:t>
            </a:r>
            <a:r>
              <a:rPr dirty="0">
                <a:latin typeface="Palatino Linotype"/>
                <a:cs typeface="Palatino Linotype"/>
              </a:rPr>
              <a:t>Web</a:t>
            </a:r>
            <a:r>
              <a:rPr dirty="0" spc="60">
                <a:latin typeface="Palatino Linotype"/>
                <a:cs typeface="Palatino Linotype"/>
              </a:rPr>
              <a:t> </a:t>
            </a:r>
            <a:r>
              <a:rPr dirty="0" spc="-40"/>
              <a:t>状态管理全景指南 — 开发与架构深度解析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100"/>
              <a:t>第 </a:t>
            </a:r>
            <a:fld id="{81D60167-4931-47E6-BA6A-407CBD079E47}" type="slidenum">
              <a:rPr dirty="0"/>
              <a:t>2</a:t>
            </a:fld>
            <a:r>
              <a:rPr dirty="0" spc="-125"/>
              <a:t> 页</a:t>
            </a: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539999" y="1194980"/>
          <a:ext cx="6556375" cy="4100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0280"/>
                <a:gridCol w="2749549"/>
                <a:gridCol w="2749550"/>
              </a:tblGrid>
              <a:tr h="393065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950" spc="-15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对比维度</a:t>
                      </a:r>
                      <a:endParaRPr sz="9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334154"/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95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Cookie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 (客户端状态保持)</a:t>
                      </a:r>
                      <a:endParaRPr sz="9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334154"/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95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Session</a:t>
                      </a:r>
                      <a:r>
                        <a:rPr dirty="0" sz="950" spc="-5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 (服务端状态保持)</a:t>
                      </a:r>
                      <a:endParaRPr sz="9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334154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950" spc="-15" b="1">
                          <a:solidFill>
                            <a:srgbClr val="1D283B"/>
                          </a:solidFill>
                          <a:latin typeface="Microsoft JhengHei"/>
                          <a:cs typeface="Microsoft JhengHei"/>
                        </a:rPr>
                        <a:t>存储位置</a:t>
                      </a:r>
                      <a:endParaRPr sz="9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95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客户端（浏览器内存或本地磁盘文件中</a:t>
                      </a:r>
                      <a:r>
                        <a:rPr dirty="0" sz="950" spc="-5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）</a:t>
                      </a:r>
                      <a:endParaRPr sz="950">
                        <a:latin typeface="SimSun"/>
                        <a:cs typeface="SimSun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95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服务端</a:t>
                      </a:r>
                      <a:r>
                        <a:rPr dirty="0" sz="950" spc="125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（Web</a:t>
                      </a:r>
                      <a:r>
                        <a:rPr dirty="0" sz="950" spc="-4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 容器的堆内存中</a:t>
                      </a:r>
                      <a:r>
                        <a:rPr dirty="0" sz="950" spc="-5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）</a:t>
                      </a:r>
                      <a:endParaRPr sz="950">
                        <a:latin typeface="SimSun"/>
                        <a:cs typeface="SimSun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</a:tr>
              <a:tr h="779145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950" spc="-20" b="1">
                          <a:solidFill>
                            <a:srgbClr val="1D283B"/>
                          </a:solidFill>
                          <a:latin typeface="Microsoft JhengHei"/>
                          <a:cs typeface="Microsoft JhengHei"/>
                        </a:rPr>
                        <a:t>安全性</a:t>
                      </a:r>
                      <a:endParaRPr sz="9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950" b="1">
                          <a:solidFill>
                            <a:srgbClr val="1D283B"/>
                          </a:solidFill>
                          <a:latin typeface="Microsoft JhengHei"/>
                          <a:cs typeface="Microsoft JhengHei"/>
                        </a:rPr>
                        <a:t>较低</a:t>
                      </a:r>
                      <a:r>
                        <a:rPr dirty="0" sz="950" spc="-5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。数据明文暴露，极易遭受跨站脚本攻击</a:t>
                      </a:r>
                      <a:endParaRPr sz="950">
                        <a:latin typeface="SimSun"/>
                        <a:cs typeface="SimSu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95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（XSS）</a:t>
                      </a:r>
                      <a:r>
                        <a:rPr dirty="0" sz="950" spc="-1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篡改、窃取或伪造。</a:t>
                      </a:r>
                      <a:endParaRPr sz="950">
                        <a:latin typeface="SimSun"/>
                        <a:cs typeface="SimSun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8745" marR="210185">
                        <a:lnSpc>
                          <a:spcPct val="133300"/>
                        </a:lnSpc>
                        <a:spcBef>
                          <a:spcPts val="630"/>
                        </a:spcBef>
                      </a:pPr>
                      <a:r>
                        <a:rPr dirty="0" sz="950" b="1">
                          <a:solidFill>
                            <a:srgbClr val="1D283B"/>
                          </a:solidFill>
                          <a:latin typeface="Microsoft JhengHei"/>
                          <a:cs typeface="Microsoft JhengHei"/>
                        </a:rPr>
                        <a:t>较高</a:t>
                      </a:r>
                      <a:r>
                        <a:rPr dirty="0" sz="950" spc="-5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。敏感业务数据锁在服务器内部，客户端</a:t>
                      </a:r>
                      <a:r>
                        <a:rPr dirty="0" sz="950" spc="-2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仅能拿到一个无规则的随机 </a:t>
                      </a:r>
                      <a:r>
                        <a:rPr dirty="0" sz="95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Session</a:t>
                      </a:r>
                      <a:r>
                        <a:rPr dirty="0" sz="950" spc="-245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 </a:t>
                      </a:r>
                      <a:r>
                        <a:rPr dirty="0" sz="950" spc="-1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ID</a:t>
                      </a:r>
                      <a:r>
                        <a:rPr dirty="0" sz="950" spc="-10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 字符</a:t>
                      </a:r>
                      <a:r>
                        <a:rPr dirty="0" sz="950" spc="-25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串。</a:t>
                      </a:r>
                      <a:endParaRPr sz="950">
                        <a:latin typeface="SimSun"/>
                        <a:cs typeface="SimSun"/>
                      </a:endParaRPr>
                    </a:p>
                  </a:txBody>
                  <a:tcPr marL="0" marR="0" marB="0" marT="8001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586105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950" spc="-15" b="1">
                          <a:solidFill>
                            <a:srgbClr val="1D283B"/>
                          </a:solidFill>
                          <a:latin typeface="Microsoft JhengHei"/>
                          <a:cs typeface="Microsoft JhengHei"/>
                        </a:rPr>
                        <a:t>数据容量</a:t>
                      </a:r>
                      <a:endParaRPr sz="9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 marR="248920">
                        <a:lnSpc>
                          <a:spcPct val="133300"/>
                        </a:lnSpc>
                        <a:spcBef>
                          <a:spcPts val="630"/>
                        </a:spcBef>
                      </a:pPr>
                      <a:r>
                        <a:rPr dirty="0" sz="950" b="1">
                          <a:solidFill>
                            <a:srgbClr val="1D283B"/>
                          </a:solidFill>
                          <a:latin typeface="Microsoft JhengHei"/>
                          <a:cs typeface="Microsoft JhengHei"/>
                        </a:rPr>
                        <a:t>严格受限</a:t>
                      </a:r>
                      <a:r>
                        <a:rPr dirty="0" sz="950" spc="-45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。单个 </a:t>
                      </a:r>
                      <a:r>
                        <a:rPr dirty="0" sz="95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Cookie</a:t>
                      </a:r>
                      <a:r>
                        <a:rPr dirty="0" sz="950" spc="-35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 存储容量通常不超过</a:t>
                      </a:r>
                      <a:r>
                        <a:rPr dirty="0" sz="950" spc="-5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 </a:t>
                      </a:r>
                      <a:r>
                        <a:rPr dirty="0" sz="950" spc="8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4KB，</a:t>
                      </a:r>
                      <a:r>
                        <a:rPr dirty="0" sz="950" spc="-5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每个域名下的数量也存在上限。</a:t>
                      </a:r>
                      <a:endParaRPr sz="950">
                        <a:latin typeface="SimSun"/>
                        <a:cs typeface="SimSun"/>
                      </a:endParaRPr>
                    </a:p>
                  </a:txBody>
                  <a:tcPr marL="0" marR="0" marB="0" marT="8001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950" b="1">
                          <a:solidFill>
                            <a:srgbClr val="1D283B"/>
                          </a:solidFill>
                          <a:latin typeface="Microsoft JhengHei"/>
                          <a:cs typeface="Microsoft JhengHei"/>
                        </a:rPr>
                        <a:t>无理论限制</a:t>
                      </a:r>
                      <a:r>
                        <a:rPr dirty="0" sz="950" spc="-5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。取决于服务器硬件内存的大小。</a:t>
                      </a:r>
                      <a:endParaRPr sz="950">
                        <a:latin typeface="SimSun"/>
                        <a:cs typeface="SimSun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</a:tr>
              <a:tr h="77851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950" spc="-10" b="1">
                          <a:solidFill>
                            <a:srgbClr val="1D283B"/>
                          </a:solidFill>
                          <a:latin typeface="Microsoft JhengHei"/>
                          <a:cs typeface="Microsoft JhengHei"/>
                        </a:rPr>
                        <a:t>服务器资源</a:t>
                      </a:r>
                      <a:endParaRPr sz="9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8745" marR="210185">
                        <a:lnSpc>
                          <a:spcPct val="133300"/>
                        </a:lnSpc>
                        <a:spcBef>
                          <a:spcPts val="630"/>
                        </a:spcBef>
                      </a:pPr>
                      <a:r>
                        <a:rPr dirty="0" sz="950" b="1">
                          <a:solidFill>
                            <a:srgbClr val="1D283B"/>
                          </a:solidFill>
                          <a:latin typeface="Microsoft JhengHei"/>
                          <a:cs typeface="Microsoft JhengHei"/>
                        </a:rPr>
                        <a:t>零消耗</a:t>
                      </a:r>
                      <a:r>
                        <a:rPr dirty="0" sz="950" spc="-5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。完全由客户端自行背负，减轻了服务</a:t>
                      </a:r>
                      <a:r>
                        <a:rPr dirty="0" sz="950" spc="-1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端的存储压力。</a:t>
                      </a:r>
                      <a:endParaRPr sz="950">
                        <a:latin typeface="SimSun"/>
                        <a:cs typeface="SimSun"/>
                      </a:endParaRPr>
                    </a:p>
                  </a:txBody>
                  <a:tcPr marL="0" marR="0" marB="0" marT="8001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8745" marR="327660">
                        <a:lnSpc>
                          <a:spcPct val="133300"/>
                        </a:lnSpc>
                        <a:spcBef>
                          <a:spcPts val="630"/>
                        </a:spcBef>
                      </a:pPr>
                      <a:r>
                        <a:rPr dirty="0" sz="950" b="1">
                          <a:solidFill>
                            <a:srgbClr val="1D283B"/>
                          </a:solidFill>
                          <a:latin typeface="Microsoft JhengHei"/>
                          <a:cs typeface="Microsoft JhengHei"/>
                        </a:rPr>
                        <a:t>高消耗</a:t>
                      </a:r>
                      <a:r>
                        <a:rPr dirty="0" sz="950" spc="-3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。高并发下若大量 </a:t>
                      </a:r>
                      <a:r>
                        <a:rPr dirty="0" sz="95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Session</a:t>
                      </a:r>
                      <a:r>
                        <a:rPr dirty="0" sz="950" spc="-7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 未及时过</a:t>
                      </a:r>
                      <a:r>
                        <a:rPr dirty="0" sz="950" spc="-35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期，会迅速蚕食 </a:t>
                      </a:r>
                      <a:r>
                        <a:rPr dirty="0" sz="950" spc="13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JVM</a:t>
                      </a:r>
                      <a:r>
                        <a:rPr dirty="0" sz="950" spc="-45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 堆内存，甚至引发</a:t>
                      </a:r>
                      <a:r>
                        <a:rPr dirty="0" sz="950" spc="-5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 </a:t>
                      </a:r>
                      <a:r>
                        <a:rPr dirty="0" sz="950" spc="145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OOM</a:t>
                      </a:r>
                      <a:r>
                        <a:rPr dirty="0" sz="950" spc="24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。</a:t>
                      </a:r>
                      <a:endParaRPr sz="950">
                        <a:latin typeface="SimSun"/>
                        <a:cs typeface="SimSun"/>
                      </a:endParaRPr>
                    </a:p>
                  </a:txBody>
                  <a:tcPr marL="0" marR="0" marB="0" marT="8001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950" spc="-10" b="1">
                          <a:solidFill>
                            <a:srgbClr val="1D283B"/>
                          </a:solidFill>
                          <a:latin typeface="Microsoft JhengHei"/>
                          <a:cs typeface="Microsoft JhengHei"/>
                        </a:rPr>
                        <a:t>支持数据类型</a:t>
                      </a:r>
                      <a:endParaRPr sz="9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 marR="466090">
                        <a:lnSpc>
                          <a:spcPct val="133300"/>
                        </a:lnSpc>
                        <a:spcBef>
                          <a:spcPts val="630"/>
                        </a:spcBef>
                      </a:pPr>
                      <a:r>
                        <a:rPr dirty="0" sz="950" spc="-65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仅支持 </a:t>
                      </a:r>
                      <a:r>
                        <a:rPr dirty="0" sz="950" spc="-2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ASCII</a:t>
                      </a:r>
                      <a:r>
                        <a:rPr dirty="0" sz="950" spc="-45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 字符串，存复杂结构需进行</a:t>
                      </a:r>
                      <a:r>
                        <a:rPr dirty="0" sz="950" spc="-5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 </a:t>
                      </a:r>
                      <a:r>
                        <a:rPr dirty="0" sz="950" spc="5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Base64</a:t>
                      </a:r>
                      <a:r>
                        <a:rPr dirty="0" sz="950" spc="-8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 编码。</a:t>
                      </a:r>
                      <a:endParaRPr sz="950">
                        <a:latin typeface="SimSun"/>
                        <a:cs typeface="SimSun"/>
                      </a:endParaRPr>
                    </a:p>
                  </a:txBody>
                  <a:tcPr marL="0" marR="0" marB="0" marT="8001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 marR="180340">
                        <a:lnSpc>
                          <a:spcPct val="133300"/>
                        </a:lnSpc>
                        <a:spcBef>
                          <a:spcPts val="630"/>
                        </a:spcBef>
                      </a:pPr>
                      <a:r>
                        <a:rPr dirty="0" sz="950" spc="-45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可存储任意 </a:t>
                      </a:r>
                      <a:r>
                        <a:rPr dirty="0" sz="95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Java</a:t>
                      </a:r>
                      <a:r>
                        <a:rPr dirty="0" sz="950" spc="-55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 复合对象</a:t>
                      </a:r>
                      <a:r>
                        <a:rPr dirty="0" sz="950" spc="-10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（List</a:t>
                      </a:r>
                      <a:r>
                        <a:rPr dirty="0" sz="950" spc="-175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, </a:t>
                      </a:r>
                      <a:r>
                        <a:rPr dirty="0" sz="950" spc="6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Map</a:t>
                      </a:r>
                      <a:r>
                        <a:rPr dirty="0" sz="950" spc="-5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, 自定义</a:t>
                      </a:r>
                      <a:r>
                        <a:rPr dirty="0" sz="95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实体类等）</a:t>
                      </a:r>
                      <a:r>
                        <a:rPr dirty="0" sz="950" spc="-5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。</a:t>
                      </a:r>
                      <a:endParaRPr sz="950">
                        <a:latin typeface="SimSun"/>
                        <a:cs typeface="SimSun"/>
                      </a:endParaRPr>
                    </a:p>
                  </a:txBody>
                  <a:tcPr marL="0" marR="0" marB="0" marT="8001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950" spc="-15" b="1">
                          <a:solidFill>
                            <a:srgbClr val="1D283B"/>
                          </a:solidFill>
                          <a:latin typeface="Microsoft JhengHei"/>
                          <a:cs typeface="Microsoft JhengHei"/>
                        </a:rPr>
                        <a:t>典型场景</a:t>
                      </a:r>
                      <a:endParaRPr sz="9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95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“记住我”自动登录功能、用户个性化UI</a:t>
                      </a:r>
                      <a:r>
                        <a:rPr dirty="0" sz="950" spc="-25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配置</a:t>
                      </a:r>
                      <a:endParaRPr sz="950">
                        <a:latin typeface="SimSun"/>
                        <a:cs typeface="SimSu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950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（夜间模式）</a:t>
                      </a:r>
                      <a:r>
                        <a:rPr dirty="0" sz="950" spc="-5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、非敏感埋点日志追踪。</a:t>
                      </a:r>
                      <a:endParaRPr sz="950">
                        <a:latin typeface="SimSun"/>
                        <a:cs typeface="SimSun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8745" marR="210185">
                        <a:lnSpc>
                          <a:spcPct val="133300"/>
                        </a:lnSpc>
                        <a:spcBef>
                          <a:spcPts val="630"/>
                        </a:spcBef>
                      </a:pPr>
                      <a:r>
                        <a:rPr dirty="0" sz="950" spc="-5">
                          <a:solidFill>
                            <a:srgbClr val="1D283B"/>
                          </a:solidFill>
                          <a:latin typeface="SimSun"/>
                          <a:cs typeface="SimSun"/>
                        </a:rPr>
                        <a:t>用户登录认证态管理、电商购物车核心链路、高频验证码校验、跨页面复杂表单暂存。</a:t>
                      </a:r>
                      <a:endParaRPr sz="950">
                        <a:latin typeface="SimSun"/>
                        <a:cs typeface="SimSun"/>
                      </a:endParaRPr>
                    </a:p>
                  </a:txBody>
                  <a:tcPr marL="0" marR="0" marB="0" marT="8001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527299" y="5622251"/>
            <a:ext cx="6505575" cy="1555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F162A"/>
                </a:solidFill>
                <a:latin typeface="Microsoft JhengHei"/>
                <a:cs typeface="Microsoft JhengHei"/>
              </a:rPr>
              <a:t>5.</a:t>
            </a:r>
            <a:r>
              <a:rPr dirty="0" sz="1400" spc="10" b="1">
                <a:solidFill>
                  <a:srgbClr val="0F162A"/>
                </a:solidFill>
                <a:latin typeface="Microsoft JhengHei"/>
                <a:cs typeface="Microsoft JhengHei"/>
              </a:rPr>
              <a:t> 配置：</a:t>
            </a:r>
            <a:r>
              <a:rPr dirty="0" sz="1400" spc="55" b="1">
                <a:solidFill>
                  <a:srgbClr val="0F162A"/>
                </a:solidFill>
                <a:latin typeface="Microsoft JhengHei"/>
                <a:cs typeface="Microsoft JhengHei"/>
              </a:rPr>
              <a:t>Java</a:t>
            </a:r>
            <a:r>
              <a:rPr dirty="0" sz="1400" spc="15" b="1">
                <a:solidFill>
                  <a:srgbClr val="0F162A"/>
                </a:solidFill>
                <a:latin typeface="Microsoft JhengHei"/>
                <a:cs typeface="Microsoft JhengHei"/>
              </a:rPr>
              <a:t> </a:t>
            </a:r>
            <a:r>
              <a:rPr dirty="0" sz="1400" spc="-55" b="1">
                <a:solidFill>
                  <a:srgbClr val="0F162A"/>
                </a:solidFill>
                <a:latin typeface="Microsoft JhengHei"/>
                <a:cs typeface="Microsoft JhengHei"/>
              </a:rPr>
              <a:t>Web</a:t>
            </a:r>
            <a:r>
              <a:rPr dirty="0" sz="1400" b="1">
                <a:solidFill>
                  <a:srgbClr val="0F162A"/>
                </a:solidFill>
                <a:latin typeface="Microsoft JhengHei"/>
                <a:cs typeface="Microsoft JhengHei"/>
              </a:rPr>
              <a:t> 中设置 Session</a:t>
            </a:r>
            <a:r>
              <a:rPr dirty="0" sz="1400" spc="-10" b="1">
                <a:solidFill>
                  <a:srgbClr val="0F162A"/>
                </a:solidFill>
                <a:latin typeface="Microsoft JhengHei"/>
                <a:cs typeface="Microsoft JhengHei"/>
              </a:rPr>
              <a:t> 超时的两种方式</a:t>
            </a:r>
            <a:endParaRPr sz="1400">
              <a:latin typeface="Microsoft JhengHei"/>
              <a:cs typeface="Microsoft JhengHei"/>
            </a:endParaRPr>
          </a:p>
          <a:p>
            <a:pPr marL="12700" marR="5080">
              <a:lnSpc>
                <a:spcPct val="133300"/>
              </a:lnSpc>
              <a:spcBef>
                <a:spcPts val="1180"/>
              </a:spcBef>
            </a:pP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合理的会话超时设计是兼顾服务器性能与业务安全的关键。Java </a:t>
            </a:r>
            <a:r>
              <a:rPr dirty="0" sz="1050" spc="185">
                <a:solidFill>
                  <a:srgbClr val="1D283B"/>
                </a:solidFill>
                <a:latin typeface="SimSun"/>
                <a:cs typeface="SimSun"/>
              </a:rPr>
              <a:t>Web</a:t>
            </a:r>
            <a:r>
              <a:rPr dirty="0" sz="1050" spc="-5">
                <a:solidFill>
                  <a:srgbClr val="1D283B"/>
                </a:solidFill>
                <a:latin typeface="SimSun"/>
                <a:cs typeface="SimSun"/>
              </a:rPr>
              <a:t> 生态提供了全局声明式和局部编程式两</a:t>
            </a:r>
            <a:r>
              <a:rPr dirty="0" sz="1050" spc="-10">
                <a:solidFill>
                  <a:srgbClr val="1D283B"/>
                </a:solidFill>
                <a:latin typeface="SimSun"/>
                <a:cs typeface="SimSun"/>
              </a:rPr>
              <a:t>种控制手段。</a:t>
            </a:r>
            <a:endParaRPr sz="10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0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dirty="0" sz="1150" spc="-5" b="1">
                <a:solidFill>
                  <a:srgbClr val="1D283B"/>
                </a:solidFill>
                <a:latin typeface="Microsoft JhengHei"/>
                <a:cs typeface="Microsoft JhengHei"/>
              </a:rPr>
              <a:t>方式一：在 </a:t>
            </a:r>
            <a:r>
              <a:rPr dirty="0" sz="1150" b="1">
                <a:solidFill>
                  <a:srgbClr val="1D283B"/>
                </a:solidFill>
                <a:latin typeface="Courier New"/>
                <a:cs typeface="Courier New"/>
              </a:rPr>
              <a:t>web.xml</a:t>
            </a:r>
            <a:r>
              <a:rPr dirty="0" sz="1150" spc="-430" b="1">
                <a:solidFill>
                  <a:srgbClr val="1D283B"/>
                </a:solidFill>
                <a:latin typeface="Courier New"/>
                <a:cs typeface="Courier New"/>
              </a:rPr>
              <a:t> </a:t>
            </a:r>
            <a:r>
              <a:rPr dirty="0" sz="1150" spc="-10" b="1">
                <a:solidFill>
                  <a:srgbClr val="1D283B"/>
                </a:solidFill>
                <a:latin typeface="Microsoft JhengHei"/>
                <a:cs typeface="Microsoft JhengHei"/>
              </a:rPr>
              <a:t>中进行全局架构配置</a:t>
            </a:r>
            <a:endParaRPr sz="11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050" spc="-35">
                <a:solidFill>
                  <a:srgbClr val="1D283B"/>
                </a:solidFill>
                <a:latin typeface="SimSun"/>
                <a:cs typeface="SimSun"/>
              </a:rPr>
              <a:t>此配置针对整个 </a:t>
            </a:r>
            <a:r>
              <a:rPr dirty="0" sz="1050" spc="185">
                <a:solidFill>
                  <a:srgbClr val="1D283B"/>
                </a:solidFill>
                <a:latin typeface="SimSun"/>
                <a:cs typeface="SimSun"/>
              </a:rPr>
              <a:t>Web</a:t>
            </a:r>
            <a:r>
              <a:rPr dirty="0" sz="1050" spc="-75">
                <a:solidFill>
                  <a:srgbClr val="1D283B"/>
                </a:solidFill>
                <a:latin typeface="SimSun"/>
                <a:cs typeface="SimSun"/>
              </a:rPr>
              <a:t> 应用中的所有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Session</a:t>
            </a:r>
            <a:r>
              <a:rPr dirty="0" sz="1050" spc="-70">
                <a:solidFill>
                  <a:srgbClr val="1D283B"/>
                </a:solidFill>
                <a:latin typeface="SimSun"/>
                <a:cs typeface="SimSun"/>
              </a:rPr>
              <a:t> 生效。</a:t>
            </a:r>
            <a:r>
              <a:rPr dirty="0" sz="1050" spc="-5" b="1">
                <a:solidFill>
                  <a:srgbClr val="E11C48"/>
                </a:solidFill>
                <a:latin typeface="Microsoft JhengHei"/>
                <a:cs typeface="Microsoft JhengHei"/>
              </a:rPr>
              <a:t>特别注意：此处的配置单位是【分钟】。</a:t>
            </a:r>
            <a:endParaRPr sz="1050">
              <a:latin typeface="Microsoft JhengHei"/>
              <a:cs typeface="Microsoft JhengHe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98749" y="7393175"/>
            <a:ext cx="4620260" cy="186753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900">
                <a:solidFill>
                  <a:srgbClr val="E2E8EF"/>
                </a:solidFill>
                <a:latin typeface="Courier New"/>
                <a:cs typeface="Courier New"/>
              </a:rPr>
              <a:t>&lt;?xml</a:t>
            </a:r>
            <a:r>
              <a:rPr dirty="0" sz="900" spc="-10">
                <a:solidFill>
                  <a:srgbClr val="E2E8EF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E2E8EF"/>
                </a:solidFill>
                <a:latin typeface="Courier New"/>
                <a:cs typeface="Courier New"/>
              </a:rPr>
              <a:t>version="1.0"</a:t>
            </a:r>
            <a:r>
              <a:rPr dirty="0" sz="900" spc="-10">
                <a:solidFill>
                  <a:srgbClr val="E2E8EF"/>
                </a:solidFill>
                <a:latin typeface="Courier New"/>
                <a:cs typeface="Courier New"/>
              </a:rPr>
              <a:t> encoding="UTF-</a:t>
            </a:r>
            <a:r>
              <a:rPr dirty="0" sz="900" spc="-20">
                <a:solidFill>
                  <a:srgbClr val="E2E8EF"/>
                </a:solidFill>
                <a:latin typeface="Courier New"/>
                <a:cs typeface="Courier New"/>
              </a:rPr>
              <a:t>8"?&gt;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dirty="0" sz="900" spc="-10">
                <a:solidFill>
                  <a:srgbClr val="E2E8EF"/>
                </a:solidFill>
                <a:latin typeface="Courier New"/>
                <a:cs typeface="Courier New"/>
              </a:rPr>
              <a:t>&lt;web-</a:t>
            </a:r>
            <a:r>
              <a:rPr dirty="0" sz="900">
                <a:solidFill>
                  <a:srgbClr val="E2E8EF"/>
                </a:solidFill>
                <a:latin typeface="Courier New"/>
                <a:cs typeface="Courier New"/>
              </a:rPr>
              <a:t>app</a:t>
            </a:r>
            <a:r>
              <a:rPr dirty="0" sz="900" spc="100">
                <a:solidFill>
                  <a:srgbClr val="E2E8EF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E2E8EF"/>
                </a:solidFill>
                <a:latin typeface="Courier New"/>
                <a:cs typeface="Courier New"/>
              </a:rPr>
              <a:t>xmlns="https://jakarta.ee/xml/ns/jakartaee"</a:t>
            </a:r>
            <a:r>
              <a:rPr dirty="0" sz="900" spc="114">
                <a:solidFill>
                  <a:srgbClr val="E2E8EF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E2E8EF"/>
                </a:solidFill>
                <a:latin typeface="Courier New"/>
                <a:cs typeface="Courier New"/>
              </a:rPr>
              <a:t>version="5.0"&gt;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9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</a:pPr>
            <a:r>
              <a:rPr dirty="0" sz="900" spc="-10">
                <a:solidFill>
                  <a:srgbClr val="E2E8EF"/>
                </a:solidFill>
                <a:latin typeface="Courier New"/>
                <a:cs typeface="Courier New"/>
              </a:rPr>
              <a:t>&lt;!-- </a:t>
            </a:r>
            <a:r>
              <a:rPr dirty="0" sz="900" spc="5">
                <a:solidFill>
                  <a:srgbClr val="E2E8EF"/>
                </a:solidFill>
                <a:latin typeface="SimSun"/>
                <a:cs typeface="SimSun"/>
              </a:rPr>
              <a:t>全局会话超时时间配置 </a:t>
            </a:r>
            <a:r>
              <a:rPr dirty="0" sz="900" spc="-25">
                <a:solidFill>
                  <a:srgbClr val="E2E8EF"/>
                </a:solidFill>
                <a:latin typeface="Courier New"/>
                <a:cs typeface="Courier New"/>
              </a:rPr>
              <a:t>--&gt;</a:t>
            </a:r>
            <a:endParaRPr sz="9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  <a:spcBef>
                <a:spcPts val="360"/>
              </a:spcBef>
            </a:pPr>
            <a:r>
              <a:rPr dirty="0" sz="900" spc="-10">
                <a:solidFill>
                  <a:srgbClr val="E2E8EF"/>
                </a:solidFill>
                <a:latin typeface="Courier New"/>
                <a:cs typeface="Courier New"/>
              </a:rPr>
              <a:t>&lt;session-config&gt;</a:t>
            </a:r>
            <a:endParaRPr sz="900">
              <a:latin typeface="Courier New"/>
              <a:cs typeface="Courier New"/>
            </a:endParaRPr>
          </a:p>
          <a:p>
            <a:pPr marL="561340">
              <a:lnSpc>
                <a:spcPct val="100000"/>
              </a:lnSpc>
              <a:spcBef>
                <a:spcPts val="409"/>
              </a:spcBef>
            </a:pPr>
            <a:r>
              <a:rPr dirty="0" sz="900" spc="-10">
                <a:solidFill>
                  <a:srgbClr val="E2E8EF"/>
                </a:solidFill>
                <a:latin typeface="Courier New"/>
                <a:cs typeface="Courier New"/>
              </a:rPr>
              <a:t>&lt;!-- </a:t>
            </a:r>
            <a:r>
              <a:rPr dirty="0" sz="900">
                <a:solidFill>
                  <a:srgbClr val="E2E8EF"/>
                </a:solidFill>
                <a:latin typeface="SimSun"/>
                <a:cs typeface="SimSun"/>
              </a:rPr>
              <a:t>用户连续</a:t>
            </a:r>
            <a:r>
              <a:rPr dirty="0" sz="900" spc="-10">
                <a:solidFill>
                  <a:srgbClr val="E2E8EF"/>
                </a:solidFill>
                <a:latin typeface="Courier New"/>
                <a:cs typeface="Courier New"/>
              </a:rPr>
              <a:t>30</a:t>
            </a:r>
            <a:r>
              <a:rPr dirty="0" sz="900">
                <a:solidFill>
                  <a:srgbClr val="E2E8EF"/>
                </a:solidFill>
                <a:latin typeface="SimSun"/>
                <a:cs typeface="SimSun"/>
              </a:rPr>
              <a:t>分钟没有任何请求交互，</a:t>
            </a:r>
            <a:r>
              <a:rPr dirty="0" sz="900">
                <a:solidFill>
                  <a:srgbClr val="E2E8EF"/>
                </a:solidFill>
                <a:latin typeface="Courier New"/>
                <a:cs typeface="Courier New"/>
              </a:rPr>
              <a:t>Session</a:t>
            </a:r>
            <a:r>
              <a:rPr dirty="0" sz="900" spc="-5">
                <a:solidFill>
                  <a:srgbClr val="E2E8EF"/>
                </a:solidFill>
                <a:latin typeface="Courier New"/>
                <a:cs typeface="Courier New"/>
              </a:rPr>
              <a:t> </a:t>
            </a:r>
            <a:r>
              <a:rPr dirty="0" sz="900" spc="10">
                <a:solidFill>
                  <a:srgbClr val="E2E8EF"/>
                </a:solidFill>
                <a:latin typeface="SimSun"/>
                <a:cs typeface="SimSun"/>
              </a:rPr>
              <a:t>自动宣告作废 </a:t>
            </a:r>
            <a:r>
              <a:rPr dirty="0" sz="900" spc="-25">
                <a:solidFill>
                  <a:srgbClr val="E2E8EF"/>
                </a:solidFill>
                <a:latin typeface="Courier New"/>
                <a:cs typeface="Courier New"/>
              </a:rPr>
              <a:t>--&gt;</a:t>
            </a:r>
            <a:endParaRPr sz="900">
              <a:latin typeface="Courier New"/>
              <a:cs typeface="Courier New"/>
            </a:endParaRPr>
          </a:p>
          <a:p>
            <a:pPr marL="561340">
              <a:lnSpc>
                <a:spcPct val="100000"/>
              </a:lnSpc>
              <a:spcBef>
                <a:spcPts val="360"/>
              </a:spcBef>
            </a:pPr>
            <a:r>
              <a:rPr dirty="0" sz="900" spc="-10">
                <a:solidFill>
                  <a:srgbClr val="E2E8EF"/>
                </a:solidFill>
                <a:latin typeface="Courier New"/>
                <a:cs typeface="Courier New"/>
              </a:rPr>
              <a:t>&lt;session-timeout&gt;30&lt;/session-timeout&gt;</a:t>
            </a:r>
            <a:endParaRPr sz="9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  <a:spcBef>
                <a:spcPts val="360"/>
              </a:spcBef>
            </a:pPr>
            <a:r>
              <a:rPr dirty="0" sz="900" spc="-10">
                <a:solidFill>
                  <a:srgbClr val="E2E8EF"/>
                </a:solidFill>
                <a:latin typeface="Courier New"/>
                <a:cs typeface="Courier New"/>
              </a:rPr>
              <a:t>&lt;/session-config&gt;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E2E8EF"/>
                </a:solidFill>
                <a:latin typeface="Courier New"/>
                <a:cs typeface="Courier New"/>
              </a:rPr>
              <a:t>&lt;/web-</a:t>
            </a:r>
            <a:r>
              <a:rPr dirty="0" sz="900" spc="-20">
                <a:solidFill>
                  <a:srgbClr val="E2E8EF"/>
                </a:solidFill>
                <a:latin typeface="Courier New"/>
                <a:cs typeface="Courier New"/>
              </a:rPr>
              <a:t>app&gt;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40000" y="1405165"/>
            <a:ext cx="6480175" cy="1345565"/>
            <a:chOff x="540000" y="1405165"/>
            <a:chExt cx="6480175" cy="1345565"/>
          </a:xfrm>
        </p:grpSpPr>
        <p:sp>
          <p:nvSpPr>
            <p:cNvPr id="3" name="object 3" descr=""/>
            <p:cNvSpPr/>
            <p:nvPr/>
          </p:nvSpPr>
          <p:spPr>
            <a:xfrm>
              <a:off x="540000" y="1405165"/>
              <a:ext cx="6480175" cy="1345565"/>
            </a:xfrm>
            <a:custGeom>
              <a:avLst/>
              <a:gdLst/>
              <a:ahLst/>
              <a:cxnLst/>
              <a:rect l="l" t="t" r="r" b="b"/>
              <a:pathLst>
                <a:path w="6480175" h="1345564">
                  <a:moveTo>
                    <a:pt x="6422850" y="1345371"/>
                  </a:moveTo>
                  <a:lnTo>
                    <a:pt x="57150" y="1345371"/>
                  </a:lnTo>
                  <a:lnTo>
                    <a:pt x="34959" y="1340862"/>
                  </a:lnTo>
                  <a:lnTo>
                    <a:pt x="16787" y="1328584"/>
                  </a:lnTo>
                  <a:lnTo>
                    <a:pt x="4509" y="1310412"/>
                  </a:lnTo>
                  <a:lnTo>
                    <a:pt x="0" y="1288221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6422850" y="0"/>
                  </a:lnTo>
                  <a:lnTo>
                    <a:pt x="6445040" y="4509"/>
                  </a:lnTo>
                  <a:lnTo>
                    <a:pt x="6463212" y="16787"/>
                  </a:lnTo>
                  <a:lnTo>
                    <a:pt x="6475490" y="34959"/>
                  </a:lnTo>
                  <a:lnTo>
                    <a:pt x="6480000" y="57150"/>
                  </a:lnTo>
                  <a:lnTo>
                    <a:pt x="6480000" y="1288221"/>
                  </a:lnTo>
                  <a:lnTo>
                    <a:pt x="6475490" y="1310412"/>
                  </a:lnTo>
                  <a:lnTo>
                    <a:pt x="6463212" y="1328584"/>
                  </a:lnTo>
                  <a:lnTo>
                    <a:pt x="6445040" y="1340862"/>
                  </a:lnTo>
                  <a:lnTo>
                    <a:pt x="6422850" y="1345371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40000" y="1421953"/>
              <a:ext cx="32384" cy="1311910"/>
            </a:xfrm>
            <a:custGeom>
              <a:avLst/>
              <a:gdLst/>
              <a:ahLst/>
              <a:cxnLst/>
              <a:rect l="l" t="t" r="r" b="b"/>
              <a:pathLst>
                <a:path w="32384" h="1311910">
                  <a:moveTo>
                    <a:pt x="16787" y="1311796"/>
                  </a:moveTo>
                  <a:lnTo>
                    <a:pt x="4509" y="1293624"/>
                  </a:lnTo>
                  <a:lnTo>
                    <a:pt x="0" y="1271434"/>
                  </a:lnTo>
                  <a:lnTo>
                    <a:pt x="0" y="40362"/>
                  </a:lnTo>
                  <a:lnTo>
                    <a:pt x="4509" y="18171"/>
                  </a:lnTo>
                  <a:lnTo>
                    <a:pt x="16787" y="0"/>
                  </a:lnTo>
                  <a:lnTo>
                    <a:pt x="31872" y="15084"/>
                  </a:lnTo>
                  <a:lnTo>
                    <a:pt x="30829" y="18171"/>
                  </a:lnTo>
                  <a:lnTo>
                    <a:pt x="28575" y="40362"/>
                  </a:lnTo>
                  <a:lnTo>
                    <a:pt x="28575" y="1271434"/>
                  </a:lnTo>
                  <a:lnTo>
                    <a:pt x="30829" y="1293624"/>
                  </a:lnTo>
                  <a:lnTo>
                    <a:pt x="31872" y="1296711"/>
                  </a:lnTo>
                  <a:lnTo>
                    <a:pt x="16787" y="1311796"/>
                  </a:lnTo>
                  <a:close/>
                </a:path>
              </a:pathLst>
            </a:custGeom>
            <a:solidFill>
              <a:srgbClr val="38BCF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540000" y="2893412"/>
            <a:ext cx="6480175" cy="1376680"/>
            <a:chOff x="540000" y="2893412"/>
            <a:chExt cx="6480175" cy="1376680"/>
          </a:xfrm>
        </p:grpSpPr>
        <p:sp>
          <p:nvSpPr>
            <p:cNvPr id="6" name="object 6" descr=""/>
            <p:cNvSpPr/>
            <p:nvPr/>
          </p:nvSpPr>
          <p:spPr>
            <a:xfrm>
              <a:off x="540000" y="2893412"/>
              <a:ext cx="6480175" cy="1376680"/>
            </a:xfrm>
            <a:custGeom>
              <a:avLst/>
              <a:gdLst/>
              <a:ahLst/>
              <a:cxnLst/>
              <a:rect l="l" t="t" r="r" b="b"/>
              <a:pathLst>
                <a:path w="6480175" h="1376679">
                  <a:moveTo>
                    <a:pt x="6441900" y="1376654"/>
                  </a:moveTo>
                  <a:lnTo>
                    <a:pt x="0" y="1376654"/>
                  </a:lnTo>
                  <a:lnTo>
                    <a:pt x="0" y="0"/>
                  </a:lnTo>
                  <a:lnTo>
                    <a:pt x="6441900" y="0"/>
                  </a:lnTo>
                  <a:lnTo>
                    <a:pt x="6456693" y="3006"/>
                  </a:lnTo>
                  <a:lnTo>
                    <a:pt x="6468808" y="11191"/>
                  </a:lnTo>
                  <a:lnTo>
                    <a:pt x="6476993" y="23306"/>
                  </a:lnTo>
                  <a:lnTo>
                    <a:pt x="6480000" y="38100"/>
                  </a:lnTo>
                  <a:lnTo>
                    <a:pt x="6480000" y="1338554"/>
                  </a:lnTo>
                  <a:lnTo>
                    <a:pt x="6476993" y="1353348"/>
                  </a:lnTo>
                  <a:lnTo>
                    <a:pt x="6468808" y="1365462"/>
                  </a:lnTo>
                  <a:lnTo>
                    <a:pt x="6456693" y="1373648"/>
                  </a:lnTo>
                  <a:lnTo>
                    <a:pt x="6441900" y="1376654"/>
                  </a:lnTo>
                  <a:close/>
                </a:path>
              </a:pathLst>
            </a:custGeom>
            <a:solidFill>
              <a:srgbClr val="EFF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40000" y="2893412"/>
              <a:ext cx="38100" cy="1376680"/>
            </a:xfrm>
            <a:custGeom>
              <a:avLst/>
              <a:gdLst/>
              <a:ahLst/>
              <a:cxnLst/>
              <a:rect l="l" t="t" r="r" b="b"/>
              <a:pathLst>
                <a:path w="38100" h="1376679">
                  <a:moveTo>
                    <a:pt x="38100" y="1376654"/>
                  </a:moveTo>
                  <a:lnTo>
                    <a:pt x="0" y="1376654"/>
                  </a:lnTo>
                  <a:lnTo>
                    <a:pt x="0" y="0"/>
                  </a:lnTo>
                  <a:lnTo>
                    <a:pt x="38100" y="0"/>
                  </a:lnTo>
                  <a:lnTo>
                    <a:pt x="38100" y="1376654"/>
                  </a:lnTo>
                  <a:close/>
                </a:path>
              </a:pathLst>
            </a:custGeom>
            <a:solidFill>
              <a:srgbClr val="0183C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540000" y="4555816"/>
            <a:ext cx="38100" cy="284480"/>
          </a:xfrm>
          <a:custGeom>
            <a:avLst/>
            <a:gdLst/>
            <a:ahLst/>
            <a:cxnLst/>
            <a:rect l="l" t="t" r="r" b="b"/>
            <a:pathLst>
              <a:path w="38100" h="284479">
                <a:moveTo>
                  <a:pt x="38100" y="284480"/>
                </a:moveTo>
                <a:lnTo>
                  <a:pt x="0" y="284480"/>
                </a:lnTo>
                <a:lnTo>
                  <a:pt x="0" y="0"/>
                </a:lnTo>
                <a:lnTo>
                  <a:pt x="38100" y="0"/>
                </a:lnTo>
                <a:lnTo>
                  <a:pt x="38100" y="284480"/>
                </a:lnTo>
                <a:close/>
              </a:path>
            </a:pathLst>
          </a:custGeom>
          <a:solidFill>
            <a:srgbClr val="0183C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540000" y="8673355"/>
            <a:ext cx="6480175" cy="1262380"/>
            <a:chOff x="540000" y="8673355"/>
            <a:chExt cx="6480175" cy="1262380"/>
          </a:xfrm>
        </p:grpSpPr>
        <p:sp>
          <p:nvSpPr>
            <p:cNvPr id="10" name="object 10" descr=""/>
            <p:cNvSpPr/>
            <p:nvPr/>
          </p:nvSpPr>
          <p:spPr>
            <a:xfrm>
              <a:off x="540000" y="8673355"/>
              <a:ext cx="6480175" cy="1262380"/>
            </a:xfrm>
            <a:custGeom>
              <a:avLst/>
              <a:gdLst/>
              <a:ahLst/>
              <a:cxnLst/>
              <a:rect l="l" t="t" r="r" b="b"/>
              <a:pathLst>
                <a:path w="6480175" h="1262379">
                  <a:moveTo>
                    <a:pt x="6441900" y="1262354"/>
                  </a:moveTo>
                  <a:lnTo>
                    <a:pt x="0" y="1262354"/>
                  </a:lnTo>
                  <a:lnTo>
                    <a:pt x="0" y="0"/>
                  </a:lnTo>
                  <a:lnTo>
                    <a:pt x="6441900" y="0"/>
                  </a:lnTo>
                  <a:lnTo>
                    <a:pt x="6456693" y="3006"/>
                  </a:lnTo>
                  <a:lnTo>
                    <a:pt x="6468808" y="11191"/>
                  </a:lnTo>
                  <a:lnTo>
                    <a:pt x="6476993" y="23306"/>
                  </a:lnTo>
                  <a:lnTo>
                    <a:pt x="6480000" y="38100"/>
                  </a:lnTo>
                  <a:lnTo>
                    <a:pt x="6480000" y="1224254"/>
                  </a:lnTo>
                  <a:lnTo>
                    <a:pt x="6476993" y="1239048"/>
                  </a:lnTo>
                  <a:lnTo>
                    <a:pt x="6468808" y="1251162"/>
                  </a:lnTo>
                  <a:lnTo>
                    <a:pt x="6456693" y="1259348"/>
                  </a:lnTo>
                  <a:lnTo>
                    <a:pt x="6441900" y="1262354"/>
                  </a:lnTo>
                  <a:close/>
                </a:path>
              </a:pathLst>
            </a:custGeom>
            <a:solidFill>
              <a:srgbClr val="EFF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40000" y="8673355"/>
              <a:ext cx="38100" cy="1262380"/>
            </a:xfrm>
            <a:custGeom>
              <a:avLst/>
              <a:gdLst/>
              <a:ahLst/>
              <a:cxnLst/>
              <a:rect l="l" t="t" r="r" b="b"/>
              <a:pathLst>
                <a:path w="38100" h="1262379">
                  <a:moveTo>
                    <a:pt x="38100" y="1262354"/>
                  </a:moveTo>
                  <a:lnTo>
                    <a:pt x="0" y="1262354"/>
                  </a:lnTo>
                  <a:lnTo>
                    <a:pt x="0" y="0"/>
                  </a:lnTo>
                  <a:lnTo>
                    <a:pt x="38100" y="0"/>
                  </a:lnTo>
                  <a:lnTo>
                    <a:pt x="38100" y="1262354"/>
                  </a:lnTo>
                  <a:close/>
                </a:path>
              </a:pathLst>
            </a:custGeom>
            <a:solidFill>
              <a:srgbClr val="0183C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0975" y="8816799"/>
              <a:ext cx="176397" cy="166020"/>
            </a:xfrm>
            <a:prstGeom prst="rect">
              <a:avLst/>
            </a:prstGeom>
          </p:spPr>
        </p:pic>
      </p:grp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7190" y="2086330"/>
            <a:ext cx="151197" cy="142303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527299" y="741765"/>
            <a:ext cx="5375275" cy="18694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" b="1">
                <a:solidFill>
                  <a:srgbClr val="1D283B"/>
                </a:solidFill>
                <a:latin typeface="Microsoft JhengHei"/>
                <a:cs typeface="Microsoft JhengHei"/>
              </a:rPr>
              <a:t>方式二：在 </a:t>
            </a:r>
            <a:r>
              <a:rPr dirty="0" sz="1150" spc="55" b="1">
                <a:solidFill>
                  <a:srgbClr val="1D283B"/>
                </a:solidFill>
                <a:latin typeface="Microsoft JhengHei"/>
                <a:cs typeface="Microsoft JhengHei"/>
              </a:rPr>
              <a:t>Java</a:t>
            </a:r>
            <a:r>
              <a:rPr dirty="0" sz="1150" spc="-15" b="1">
                <a:solidFill>
                  <a:srgbClr val="1D283B"/>
                </a:solidFill>
                <a:latin typeface="Microsoft JhengHei"/>
                <a:cs typeface="Microsoft JhengHei"/>
              </a:rPr>
              <a:t> 业务代码中动态运行时配置</a:t>
            </a:r>
            <a:endParaRPr sz="11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1050" spc="-25">
                <a:solidFill>
                  <a:srgbClr val="1D283B"/>
                </a:solidFill>
                <a:latin typeface="SimSun"/>
                <a:cs typeface="SimSun"/>
              </a:rPr>
              <a:t>此配置仅对当前用户的特定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Session</a:t>
            </a:r>
            <a:r>
              <a:rPr dirty="0" sz="1050" spc="-55">
                <a:solidFill>
                  <a:srgbClr val="1D283B"/>
                </a:solidFill>
                <a:latin typeface="SimSun"/>
                <a:cs typeface="SimSun"/>
              </a:rPr>
              <a:t> 实例生效。</a:t>
            </a:r>
            <a:r>
              <a:rPr dirty="0" sz="1050" spc="-5" b="1">
                <a:solidFill>
                  <a:srgbClr val="E11C48"/>
                </a:solidFill>
                <a:latin typeface="Microsoft JhengHei"/>
                <a:cs typeface="Microsoft JhengHei"/>
              </a:rPr>
              <a:t>特别注意：此处的 </a:t>
            </a:r>
            <a:r>
              <a:rPr dirty="0" sz="1050" b="1">
                <a:solidFill>
                  <a:srgbClr val="E11C48"/>
                </a:solidFill>
                <a:latin typeface="Microsoft JhengHei"/>
                <a:cs typeface="Microsoft JhengHei"/>
              </a:rPr>
              <a:t>API</a:t>
            </a:r>
            <a:r>
              <a:rPr dirty="0" sz="1050" spc="-15" b="1">
                <a:solidFill>
                  <a:srgbClr val="E11C48"/>
                </a:solidFill>
                <a:latin typeface="Microsoft JhengHei"/>
                <a:cs typeface="Microsoft JhengHei"/>
              </a:rPr>
              <a:t> 传参单位是【秒】。</a:t>
            </a:r>
            <a:endParaRPr sz="105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050">
              <a:latin typeface="Microsoft JhengHei"/>
              <a:cs typeface="Microsoft JhengHei"/>
            </a:endParaRPr>
          </a:p>
          <a:p>
            <a:pPr marL="184150">
              <a:lnSpc>
                <a:spcPct val="100000"/>
              </a:lnSpc>
            </a:pPr>
            <a:r>
              <a:rPr dirty="0" sz="900" spc="-10" i="1">
                <a:solidFill>
                  <a:srgbClr val="64748A"/>
                </a:solidFill>
                <a:latin typeface="Courier New"/>
                <a:cs typeface="Courier New"/>
              </a:rPr>
              <a:t>// </a:t>
            </a:r>
            <a:r>
              <a:rPr dirty="0" sz="900" spc="-5">
                <a:solidFill>
                  <a:srgbClr val="64748A"/>
                </a:solidFill>
                <a:latin typeface="SimSun"/>
                <a:cs typeface="SimSun"/>
              </a:rPr>
              <a:t>获取当前请求关联的 </a:t>
            </a:r>
            <a:r>
              <a:rPr dirty="0" sz="900" i="1">
                <a:solidFill>
                  <a:srgbClr val="64748A"/>
                </a:solidFill>
                <a:latin typeface="Courier New"/>
                <a:cs typeface="Courier New"/>
              </a:rPr>
              <a:t>Session</a:t>
            </a:r>
            <a:r>
              <a:rPr dirty="0" sz="900" spc="-15" i="1">
                <a:solidFill>
                  <a:srgbClr val="64748A"/>
                </a:solidFill>
                <a:latin typeface="Courier New"/>
                <a:cs typeface="Courier New"/>
              </a:rPr>
              <a:t> </a:t>
            </a:r>
            <a:r>
              <a:rPr dirty="0" sz="900" spc="-25">
                <a:solidFill>
                  <a:srgbClr val="64748A"/>
                </a:solidFill>
                <a:latin typeface="SimSun"/>
                <a:cs typeface="SimSun"/>
              </a:rPr>
              <a:t>对象</a:t>
            </a:r>
            <a:endParaRPr sz="900">
              <a:latin typeface="SimSun"/>
              <a:cs typeface="SimSun"/>
            </a:endParaRPr>
          </a:p>
          <a:p>
            <a:pPr marL="184150">
              <a:lnSpc>
                <a:spcPct val="100000"/>
              </a:lnSpc>
              <a:spcBef>
                <a:spcPts val="360"/>
              </a:spcBef>
            </a:pPr>
            <a:r>
              <a:rPr dirty="0" sz="900">
                <a:solidFill>
                  <a:srgbClr val="E2E8EF"/>
                </a:solidFill>
                <a:latin typeface="Courier New"/>
                <a:cs typeface="Courier New"/>
              </a:rPr>
              <a:t>HttpSession</a:t>
            </a:r>
            <a:r>
              <a:rPr dirty="0" sz="900" spc="-35">
                <a:solidFill>
                  <a:srgbClr val="E2E8EF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E2E8EF"/>
                </a:solidFill>
                <a:latin typeface="Courier New"/>
                <a:cs typeface="Courier New"/>
              </a:rPr>
              <a:t>session</a:t>
            </a:r>
            <a:r>
              <a:rPr dirty="0" sz="900" spc="-30">
                <a:solidFill>
                  <a:srgbClr val="E2E8EF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E2E8EF"/>
                </a:solidFill>
                <a:latin typeface="Courier New"/>
                <a:cs typeface="Courier New"/>
              </a:rPr>
              <a:t>=</a:t>
            </a:r>
            <a:r>
              <a:rPr dirty="0" sz="900" spc="-30">
                <a:solidFill>
                  <a:srgbClr val="E2E8EF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E2E8EF"/>
                </a:solidFill>
                <a:latin typeface="Courier New"/>
                <a:cs typeface="Courier New"/>
              </a:rPr>
              <a:t>request.getSession();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900">
              <a:latin typeface="Courier New"/>
              <a:cs typeface="Courier New"/>
            </a:endParaRPr>
          </a:p>
          <a:p>
            <a:pPr marL="184150">
              <a:lnSpc>
                <a:spcPct val="100000"/>
              </a:lnSpc>
              <a:tabLst>
                <a:tab pos="589280" algn="l"/>
              </a:tabLst>
            </a:pPr>
            <a:r>
              <a:rPr dirty="0" sz="900" spc="-25" i="1">
                <a:solidFill>
                  <a:srgbClr val="64748A"/>
                </a:solidFill>
                <a:latin typeface="Courier New"/>
                <a:cs typeface="Courier New"/>
              </a:rPr>
              <a:t>//</a:t>
            </a:r>
            <a:r>
              <a:rPr dirty="0" sz="900" i="1">
                <a:solidFill>
                  <a:srgbClr val="64748A"/>
                </a:solidFill>
                <a:latin typeface="Courier New"/>
                <a:cs typeface="Courier New"/>
              </a:rPr>
              <a:t>	</a:t>
            </a:r>
            <a:r>
              <a:rPr dirty="0" sz="900">
                <a:solidFill>
                  <a:srgbClr val="64748A"/>
                </a:solidFill>
                <a:latin typeface="SimSun"/>
                <a:cs typeface="SimSun"/>
              </a:rPr>
              <a:t>设定当前会话的最大空闲活动时间为 </a:t>
            </a:r>
            <a:r>
              <a:rPr dirty="0" sz="900" i="1">
                <a:solidFill>
                  <a:srgbClr val="64748A"/>
                </a:solidFill>
                <a:latin typeface="Courier New"/>
                <a:cs typeface="Courier New"/>
              </a:rPr>
              <a:t>600</a:t>
            </a:r>
            <a:r>
              <a:rPr dirty="0" sz="900" spc="-10" i="1">
                <a:solidFill>
                  <a:srgbClr val="64748A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64748A"/>
                </a:solidFill>
                <a:latin typeface="SimSun"/>
                <a:cs typeface="SimSun"/>
              </a:rPr>
              <a:t>秒（</a:t>
            </a:r>
            <a:r>
              <a:rPr dirty="0" sz="900" spc="40">
                <a:solidFill>
                  <a:srgbClr val="64748A"/>
                </a:solidFill>
                <a:latin typeface="SimSun"/>
                <a:cs typeface="SimSun"/>
              </a:rPr>
              <a:t>即 </a:t>
            </a:r>
            <a:r>
              <a:rPr dirty="0" sz="900" i="1">
                <a:solidFill>
                  <a:srgbClr val="64748A"/>
                </a:solidFill>
                <a:latin typeface="Courier New"/>
                <a:cs typeface="Courier New"/>
              </a:rPr>
              <a:t>10</a:t>
            </a:r>
            <a:r>
              <a:rPr dirty="0" sz="900" spc="-5" i="1">
                <a:solidFill>
                  <a:srgbClr val="64748A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64748A"/>
                </a:solidFill>
                <a:latin typeface="SimSun"/>
                <a:cs typeface="SimSun"/>
              </a:rPr>
              <a:t>分钟</a:t>
            </a:r>
            <a:r>
              <a:rPr dirty="0" sz="900" spc="-50">
                <a:solidFill>
                  <a:srgbClr val="64748A"/>
                </a:solidFill>
                <a:latin typeface="SimSun"/>
                <a:cs typeface="SimSun"/>
              </a:rPr>
              <a:t>）</a:t>
            </a:r>
            <a:endParaRPr sz="900">
              <a:latin typeface="SimSun"/>
              <a:cs typeface="SimSun"/>
            </a:endParaRPr>
          </a:p>
          <a:p>
            <a:pPr marL="184150">
              <a:lnSpc>
                <a:spcPct val="100000"/>
              </a:lnSpc>
              <a:spcBef>
                <a:spcPts val="409"/>
              </a:spcBef>
            </a:pPr>
            <a:r>
              <a:rPr dirty="0" sz="900" spc="-5" i="1">
                <a:solidFill>
                  <a:srgbClr val="64748A"/>
                </a:solidFill>
                <a:latin typeface="Courier New"/>
                <a:cs typeface="Courier New"/>
              </a:rPr>
              <a:t>// </a:t>
            </a:r>
            <a:r>
              <a:rPr dirty="0" sz="900" spc="10">
                <a:solidFill>
                  <a:srgbClr val="64748A"/>
                </a:solidFill>
                <a:latin typeface="SimSun"/>
                <a:cs typeface="SimSun"/>
              </a:rPr>
              <a:t>若传入负数或 </a:t>
            </a:r>
            <a:r>
              <a:rPr dirty="0" sz="900" spc="-10" i="1">
                <a:solidFill>
                  <a:srgbClr val="64748A"/>
                </a:solidFill>
                <a:latin typeface="Courier New"/>
                <a:cs typeface="Courier New"/>
              </a:rPr>
              <a:t>0</a:t>
            </a:r>
            <a:r>
              <a:rPr dirty="0" sz="900" spc="-5">
                <a:solidFill>
                  <a:srgbClr val="64748A"/>
                </a:solidFill>
                <a:latin typeface="SimSun"/>
                <a:cs typeface="SimSun"/>
              </a:rPr>
              <a:t>，则代表该 </a:t>
            </a:r>
            <a:r>
              <a:rPr dirty="0" sz="900" i="1">
                <a:solidFill>
                  <a:srgbClr val="64748A"/>
                </a:solidFill>
                <a:latin typeface="Courier New"/>
                <a:cs typeface="Courier New"/>
              </a:rPr>
              <a:t>Session</a:t>
            </a:r>
            <a:r>
              <a:rPr dirty="0" sz="900" spc="-10" i="1">
                <a:solidFill>
                  <a:srgbClr val="64748A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64748A"/>
                </a:solidFill>
                <a:latin typeface="SimSun"/>
                <a:cs typeface="SimSun"/>
              </a:rPr>
              <a:t>永不超时（线上环境极其危险，禁止使用</a:t>
            </a:r>
            <a:r>
              <a:rPr dirty="0" sz="900" spc="-50">
                <a:solidFill>
                  <a:srgbClr val="64748A"/>
                </a:solidFill>
                <a:latin typeface="SimSun"/>
                <a:cs typeface="SimSun"/>
              </a:rPr>
              <a:t>）</a:t>
            </a:r>
            <a:endParaRPr sz="900">
              <a:latin typeface="SimSun"/>
              <a:cs typeface="SimSun"/>
            </a:endParaRPr>
          </a:p>
          <a:p>
            <a:pPr marL="184150">
              <a:lnSpc>
                <a:spcPct val="100000"/>
              </a:lnSpc>
              <a:spcBef>
                <a:spcPts val="360"/>
              </a:spcBef>
            </a:pPr>
            <a:r>
              <a:rPr dirty="0" sz="900" spc="-10">
                <a:solidFill>
                  <a:srgbClr val="E2E8EF"/>
                </a:solidFill>
                <a:latin typeface="Courier New"/>
                <a:cs typeface="Courier New"/>
              </a:rPr>
              <a:t>session.setMaxInactiveInterval(600);</a:t>
            </a:r>
            <a:endParaRPr sz="900">
              <a:latin typeface="Courier New"/>
              <a:cs typeface="Courier New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0974" y="3036857"/>
            <a:ext cx="176397" cy="166020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708274" y="3026482"/>
            <a:ext cx="6181725" cy="999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8915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0369A1"/>
                </a:solidFill>
                <a:latin typeface="Microsoft JhengHei"/>
                <a:cs typeface="Microsoft JhengHei"/>
              </a:rPr>
              <a:t>配置优先级铁律</a:t>
            </a:r>
            <a:endParaRPr sz="10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050" spc="-5" b="1">
                <a:solidFill>
                  <a:srgbClr val="1D283B"/>
                </a:solidFill>
                <a:latin typeface="Microsoft JhengHei"/>
                <a:cs typeface="Microsoft JhengHei"/>
              </a:rPr>
              <a:t>代码层面的局部配置 (</a:t>
            </a:r>
            <a:r>
              <a:rPr dirty="0" sz="1050" b="1">
                <a:solidFill>
                  <a:srgbClr val="1D283B"/>
                </a:solidFill>
                <a:latin typeface="Courier New"/>
                <a:cs typeface="Courier New"/>
              </a:rPr>
              <a:t>setMaxInactiveInterval</a:t>
            </a:r>
            <a:r>
              <a:rPr dirty="0" sz="1050" spc="-55" b="1">
                <a:solidFill>
                  <a:srgbClr val="1D283B"/>
                </a:solidFill>
                <a:latin typeface="Microsoft JhengHei"/>
                <a:cs typeface="Microsoft JhengHei"/>
              </a:rPr>
              <a:t>) &gt; </a:t>
            </a:r>
            <a:r>
              <a:rPr dirty="0" sz="1050" b="1">
                <a:solidFill>
                  <a:srgbClr val="1D283B"/>
                </a:solidFill>
                <a:latin typeface="Courier New"/>
                <a:cs typeface="Courier New"/>
              </a:rPr>
              <a:t>web.xml</a:t>
            </a:r>
            <a:r>
              <a:rPr dirty="0" sz="1050" spc="-375" b="1">
                <a:solidFill>
                  <a:srgbClr val="1D283B"/>
                </a:solidFill>
                <a:latin typeface="Courier New"/>
                <a:cs typeface="Courier New"/>
              </a:rPr>
              <a:t> </a:t>
            </a:r>
            <a:r>
              <a:rPr dirty="0" sz="1050" spc="-10" b="1">
                <a:solidFill>
                  <a:srgbClr val="1D283B"/>
                </a:solidFill>
                <a:latin typeface="Microsoft JhengHei"/>
                <a:cs typeface="Microsoft JhengHei"/>
              </a:rPr>
              <a:t>中的全局统一配置。</a:t>
            </a:r>
            <a:endParaRPr sz="10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  <a:tabLst>
                <a:tab pos="1767839" algn="l"/>
              </a:tabLst>
            </a:pP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当两者同时存在时</a:t>
            </a:r>
            <a:r>
              <a:rPr dirty="0" sz="1050" spc="120">
                <a:solidFill>
                  <a:srgbClr val="1D283B"/>
                </a:solidFill>
                <a:latin typeface="SimSun"/>
                <a:cs typeface="SimSun"/>
              </a:rPr>
              <a:t>，Web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	容器会优先执行代码中精确赋予的超时秒数，未指定代码的会话则降级遵</a:t>
            </a:r>
            <a:r>
              <a:rPr dirty="0" sz="1050" spc="-50">
                <a:solidFill>
                  <a:srgbClr val="1D283B"/>
                </a:solidFill>
                <a:latin typeface="SimSun"/>
                <a:cs typeface="SimSun"/>
              </a:rPr>
              <a:t>循</a:t>
            </a:r>
            <a:endParaRPr sz="10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050">
                <a:solidFill>
                  <a:srgbClr val="1D283B"/>
                </a:solidFill>
                <a:latin typeface="Courier New"/>
                <a:cs typeface="Courier New"/>
              </a:rPr>
              <a:t>web.xml</a:t>
            </a:r>
            <a:r>
              <a:rPr dirty="0" sz="1050" spc="-395">
                <a:solidFill>
                  <a:srgbClr val="1D283B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1D283B"/>
                </a:solidFill>
                <a:latin typeface="SimSun"/>
                <a:cs typeface="SimSun"/>
              </a:rPr>
              <a:t>的分钟数。</a:t>
            </a:r>
            <a:endParaRPr sz="1050">
              <a:latin typeface="SimSun"/>
              <a:cs typeface="SimSun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>
                <a:latin typeface="Palatino Linotype"/>
                <a:cs typeface="Palatino Linotype"/>
              </a:rPr>
              <a:t>Java</a:t>
            </a:r>
            <a:r>
              <a:rPr dirty="0" spc="55">
                <a:latin typeface="Palatino Linotype"/>
                <a:cs typeface="Palatino Linotype"/>
              </a:rPr>
              <a:t> </a:t>
            </a:r>
            <a:r>
              <a:rPr dirty="0">
                <a:latin typeface="Palatino Linotype"/>
                <a:cs typeface="Palatino Linotype"/>
              </a:rPr>
              <a:t>Web</a:t>
            </a:r>
            <a:r>
              <a:rPr dirty="0" spc="60">
                <a:latin typeface="Palatino Linotype"/>
                <a:cs typeface="Palatino Linotype"/>
              </a:rPr>
              <a:t> </a:t>
            </a:r>
            <a:r>
              <a:rPr dirty="0" spc="-40"/>
              <a:t>状态管理全景指南 — 开发与架构深度解析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100"/>
              <a:t>第 </a:t>
            </a:r>
            <a:fld id="{81D60167-4931-47E6-BA6A-407CBD079E47}" type="slidenum">
              <a:rPr dirty="0"/>
              <a:t>2</a:t>
            </a:fld>
            <a:r>
              <a:rPr dirty="0" spc="-125"/>
              <a:t> 页</a:t>
            </a:r>
          </a:p>
        </p:txBody>
      </p:sp>
      <p:sp>
        <p:nvSpPr>
          <p:cNvPr id="17" name="object 17" descr=""/>
          <p:cNvSpPr txBox="1"/>
          <p:nvPr/>
        </p:nvSpPr>
        <p:spPr>
          <a:xfrm>
            <a:off x="660649" y="4585077"/>
            <a:ext cx="28943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F162A"/>
                </a:solidFill>
                <a:latin typeface="Microsoft JhengHei"/>
                <a:cs typeface="Microsoft JhengHei"/>
              </a:rPr>
              <a:t>6.</a:t>
            </a:r>
            <a:r>
              <a:rPr dirty="0" sz="1400" spc="15" b="1">
                <a:solidFill>
                  <a:srgbClr val="0F162A"/>
                </a:solidFill>
                <a:latin typeface="Microsoft JhengHei"/>
                <a:cs typeface="Microsoft JhengHei"/>
              </a:rPr>
              <a:t> 进阶：</a:t>
            </a:r>
            <a:r>
              <a:rPr dirty="0" sz="1400" b="1">
                <a:solidFill>
                  <a:srgbClr val="0F162A"/>
                </a:solidFill>
                <a:latin typeface="Microsoft JhengHei"/>
                <a:cs typeface="Microsoft JhengHei"/>
              </a:rPr>
              <a:t>Session</a:t>
            </a:r>
            <a:r>
              <a:rPr dirty="0" sz="1400" spc="-10" b="1">
                <a:solidFill>
                  <a:srgbClr val="0F162A"/>
                </a:solidFill>
                <a:latin typeface="Microsoft JhengHei"/>
                <a:cs typeface="Microsoft JhengHei"/>
              </a:rPr>
              <a:t> 的钝化与活化机制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473881" y="5001941"/>
            <a:ext cx="5588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容器（</a:t>
            </a:r>
            <a:r>
              <a:rPr dirty="0" sz="1050" spc="-50">
                <a:solidFill>
                  <a:srgbClr val="1D283B"/>
                </a:solidFill>
                <a:latin typeface="SimSun"/>
                <a:cs typeface="SimSun"/>
              </a:rPr>
              <a:t>如</a:t>
            </a:r>
            <a:endParaRPr sz="1050">
              <a:latin typeface="SimSun"/>
              <a:cs typeface="SimSu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27299" y="4948601"/>
            <a:ext cx="53663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在生产环境中，服务器重启或突发流量高峰是常态。为了在这些场景下保护会话数据，</a:t>
            </a:r>
            <a:r>
              <a:rPr dirty="0" sz="1050" spc="120">
                <a:solidFill>
                  <a:srgbClr val="1D283B"/>
                </a:solidFill>
                <a:latin typeface="SimSun"/>
                <a:cs typeface="SimSun"/>
              </a:rPr>
              <a:t>Web </a:t>
            </a:r>
            <a:r>
              <a:rPr dirty="0" sz="1050" spc="65">
                <a:solidFill>
                  <a:srgbClr val="1D283B"/>
                </a:solidFill>
                <a:latin typeface="SimSun"/>
                <a:cs typeface="SimSun"/>
              </a:rPr>
              <a:t>Tomcat）</a:t>
            </a:r>
            <a:r>
              <a:rPr dirty="0" sz="1050" spc="-65">
                <a:solidFill>
                  <a:srgbClr val="1D283B"/>
                </a:solidFill>
                <a:latin typeface="SimSun"/>
                <a:cs typeface="SimSun"/>
              </a:rPr>
              <a:t>引入了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Session</a:t>
            </a:r>
            <a:r>
              <a:rPr dirty="0" sz="1050" spc="-45">
                <a:solidFill>
                  <a:srgbClr val="1D283B"/>
                </a:solidFill>
                <a:latin typeface="SimSun"/>
                <a:cs typeface="SimSun"/>
              </a:rPr>
              <a:t> 的钝化与活化机制。</a:t>
            </a:r>
            <a:endParaRPr sz="1050">
              <a:latin typeface="SimSun"/>
              <a:cs typeface="SimSu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27299" y="5489621"/>
            <a:ext cx="6483350" cy="4202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0" marR="62865" indent="-163830">
              <a:lnSpc>
                <a:spcPct val="133300"/>
              </a:lnSpc>
              <a:spcBef>
                <a:spcPts val="100"/>
              </a:spcBef>
              <a:buFont typeface="SimSun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1D283B"/>
                </a:solidFill>
                <a:latin typeface="Microsoft JhengHei"/>
                <a:cs typeface="Microsoft JhengHei"/>
              </a:rPr>
              <a:t>钝化 (Passivation)： </a:t>
            </a:r>
            <a:r>
              <a:rPr dirty="0" sz="1050" spc="5">
                <a:solidFill>
                  <a:srgbClr val="1D283B"/>
                </a:solidFill>
                <a:latin typeface="SimSun"/>
                <a:cs typeface="SimSun"/>
              </a:rPr>
              <a:t>当满足特定触发条件时，</a:t>
            </a:r>
            <a:r>
              <a:rPr dirty="0" sz="1050" spc="65">
                <a:solidFill>
                  <a:srgbClr val="1D283B"/>
                </a:solidFill>
                <a:latin typeface="SimSun"/>
                <a:cs typeface="SimSun"/>
              </a:rPr>
              <a:t>Tomcat</a:t>
            </a:r>
            <a:r>
              <a:rPr dirty="0" sz="1050" spc="-60">
                <a:solidFill>
                  <a:srgbClr val="1D283B"/>
                </a:solidFill>
                <a:latin typeface="SimSun"/>
                <a:cs typeface="SimSun"/>
              </a:rPr>
              <a:t> 自动将内存中的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Session</a:t>
            </a:r>
            <a:r>
              <a:rPr dirty="0" sz="1050" spc="-50">
                <a:solidFill>
                  <a:srgbClr val="1D283B"/>
                </a:solidFill>
                <a:latin typeface="SimSun"/>
                <a:cs typeface="SimSun"/>
              </a:rPr>
              <a:t> 对象通过</a:t>
            </a:r>
            <a:r>
              <a:rPr dirty="0" sz="1050" b="1">
                <a:solidFill>
                  <a:srgbClr val="1D283B"/>
                </a:solidFill>
                <a:latin typeface="Microsoft JhengHei"/>
                <a:cs typeface="Microsoft JhengHei"/>
              </a:rPr>
              <a:t>序列化</a:t>
            </a:r>
            <a:r>
              <a:rPr dirty="0" sz="1050" spc="-15">
                <a:solidFill>
                  <a:srgbClr val="1D283B"/>
                </a:solidFill>
                <a:latin typeface="SimSun"/>
                <a:cs typeface="SimSun"/>
              </a:rPr>
              <a:t>手段，写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入到服务器的本地磁盘（</a:t>
            </a:r>
            <a:r>
              <a:rPr dirty="0" sz="1050" spc="-75">
                <a:solidFill>
                  <a:srgbClr val="1D283B"/>
                </a:solidFill>
                <a:latin typeface="SimSun"/>
                <a:cs typeface="SimSun"/>
              </a:rPr>
              <a:t>通常以 </a:t>
            </a:r>
            <a:r>
              <a:rPr dirty="0" sz="1050">
                <a:solidFill>
                  <a:srgbClr val="1D283B"/>
                </a:solidFill>
                <a:latin typeface="Courier New"/>
                <a:cs typeface="Courier New"/>
              </a:rPr>
              <a:t>.ser</a:t>
            </a:r>
            <a:r>
              <a:rPr dirty="0" sz="1050" spc="-395">
                <a:solidFill>
                  <a:srgbClr val="1D283B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文件形式保存在工作目录中）</a:t>
            </a:r>
            <a:r>
              <a:rPr dirty="0" sz="1050" spc="-50">
                <a:solidFill>
                  <a:srgbClr val="1D283B"/>
                </a:solidFill>
                <a:latin typeface="SimSun"/>
                <a:cs typeface="SimSun"/>
              </a:rPr>
              <a:t>。</a:t>
            </a:r>
            <a:endParaRPr sz="1050">
              <a:latin typeface="SimSun"/>
              <a:cs typeface="SimSun"/>
            </a:endParaRPr>
          </a:p>
          <a:p>
            <a:pPr marL="203200" marR="16510" indent="-163830">
              <a:lnSpc>
                <a:spcPct val="133300"/>
              </a:lnSpc>
              <a:spcBef>
                <a:spcPts val="500"/>
              </a:spcBef>
              <a:buFont typeface="SimSun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1D283B"/>
                </a:solidFill>
                <a:latin typeface="Microsoft JhengHei"/>
                <a:cs typeface="Microsoft JhengHei"/>
              </a:rPr>
              <a:t>活化 (Activation)：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当条件逆转或用户再次发起请求时，</a:t>
            </a:r>
            <a:r>
              <a:rPr dirty="0" sz="1050" spc="65">
                <a:solidFill>
                  <a:srgbClr val="1D283B"/>
                </a:solidFill>
                <a:latin typeface="SimSun"/>
                <a:cs typeface="SimSun"/>
              </a:rPr>
              <a:t>Tomcat</a:t>
            </a:r>
            <a:r>
              <a:rPr dirty="0" sz="1050" spc="-40">
                <a:solidFill>
                  <a:srgbClr val="1D283B"/>
                </a:solidFill>
                <a:latin typeface="SimSun"/>
                <a:cs typeface="SimSun"/>
              </a:rPr>
              <a:t> 将对应的磁盘文件通过</a:t>
            </a:r>
            <a:r>
              <a:rPr dirty="0" sz="1050" b="1">
                <a:solidFill>
                  <a:srgbClr val="1D283B"/>
                </a:solidFill>
                <a:latin typeface="Microsoft JhengHei"/>
                <a:cs typeface="Microsoft JhengHei"/>
              </a:rPr>
              <a:t>反序列化</a:t>
            </a:r>
            <a:r>
              <a:rPr dirty="0" sz="1050" spc="-15">
                <a:solidFill>
                  <a:srgbClr val="1D283B"/>
                </a:solidFill>
                <a:latin typeface="SimSun"/>
                <a:cs typeface="SimSun"/>
              </a:rPr>
              <a:t>重新读取</a:t>
            </a:r>
            <a:r>
              <a:rPr dirty="0" sz="1050" spc="-140">
                <a:solidFill>
                  <a:srgbClr val="1D283B"/>
                </a:solidFill>
                <a:latin typeface="SimSun"/>
                <a:cs typeface="SimSun"/>
              </a:rPr>
              <a:t>到 </a:t>
            </a:r>
            <a:r>
              <a:rPr dirty="0" sz="1050" spc="145">
                <a:solidFill>
                  <a:srgbClr val="1D283B"/>
                </a:solidFill>
                <a:latin typeface="SimSun"/>
                <a:cs typeface="SimSun"/>
              </a:rPr>
              <a:t>JVM</a:t>
            </a:r>
            <a:r>
              <a:rPr dirty="0" sz="1050" spc="-75">
                <a:solidFill>
                  <a:srgbClr val="1D283B"/>
                </a:solidFill>
                <a:latin typeface="SimSun"/>
                <a:cs typeface="SimSun"/>
              </a:rPr>
              <a:t> 堆内存中，让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Session</a:t>
            </a:r>
            <a:r>
              <a:rPr dirty="0" sz="1050" spc="-60">
                <a:solidFill>
                  <a:srgbClr val="1D283B"/>
                </a:solidFill>
                <a:latin typeface="SimSun"/>
                <a:cs typeface="SimSun"/>
              </a:rPr>
              <a:t> 满血复活。</a:t>
            </a:r>
            <a:endParaRPr sz="10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0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b="1">
                <a:solidFill>
                  <a:srgbClr val="1D283B"/>
                </a:solidFill>
                <a:latin typeface="Microsoft JhengHei"/>
                <a:cs typeface="Microsoft JhengHei"/>
              </a:rPr>
              <a:t>6.1</a:t>
            </a:r>
            <a:r>
              <a:rPr dirty="0" sz="1150" spc="-5" b="1">
                <a:solidFill>
                  <a:srgbClr val="1D283B"/>
                </a:solidFill>
                <a:latin typeface="Microsoft JhengHei"/>
                <a:cs typeface="Microsoft JhengHei"/>
              </a:rPr>
              <a:t> 核心触发条件与作用</a:t>
            </a:r>
            <a:endParaRPr sz="1150">
              <a:latin typeface="Microsoft JhengHei"/>
              <a:cs typeface="Microsoft JhengHei"/>
            </a:endParaRPr>
          </a:p>
          <a:p>
            <a:pPr marL="203200" marR="40640" indent="-146685">
              <a:lnSpc>
                <a:spcPct val="135300"/>
              </a:lnSpc>
              <a:spcBef>
                <a:spcPts val="740"/>
              </a:spcBef>
              <a:buFont typeface="SimSun"/>
              <a:buAutoNum type="arabicPeriod"/>
              <a:tabLst>
                <a:tab pos="203200" algn="l"/>
              </a:tabLst>
            </a:pPr>
            <a:r>
              <a:rPr dirty="0" sz="1050" spc="-5" b="1">
                <a:solidFill>
                  <a:srgbClr val="1D283B"/>
                </a:solidFill>
                <a:latin typeface="Microsoft JhengHei"/>
                <a:cs typeface="Microsoft JhengHei"/>
              </a:rPr>
              <a:t>容器平滑升级或正常重启： </a:t>
            </a:r>
            <a:r>
              <a:rPr dirty="0" sz="1050" spc="-75">
                <a:solidFill>
                  <a:srgbClr val="1D283B"/>
                </a:solidFill>
                <a:latin typeface="SimSun"/>
                <a:cs typeface="SimSun"/>
              </a:rPr>
              <a:t>当执行 </a:t>
            </a:r>
            <a:r>
              <a:rPr dirty="0" sz="1050">
                <a:solidFill>
                  <a:srgbClr val="1D283B"/>
                </a:solidFill>
                <a:latin typeface="Courier New"/>
                <a:cs typeface="Courier New"/>
              </a:rPr>
              <a:t>catalina.sh</a:t>
            </a:r>
            <a:r>
              <a:rPr dirty="0" sz="1050" spc="-5">
                <a:solidFill>
                  <a:srgbClr val="1D283B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D283B"/>
                </a:solidFill>
                <a:latin typeface="Courier New"/>
                <a:cs typeface="Courier New"/>
              </a:rPr>
              <a:t>stop</a:t>
            </a:r>
            <a:r>
              <a:rPr dirty="0" sz="1050" spc="-395">
                <a:solidFill>
                  <a:srgbClr val="1D283B"/>
                </a:solidFill>
                <a:latin typeface="Courier New"/>
                <a:cs typeface="Courier New"/>
              </a:rPr>
              <a:t> </a:t>
            </a:r>
            <a:r>
              <a:rPr dirty="0" sz="1050" spc="-60">
                <a:solidFill>
                  <a:srgbClr val="1D283B"/>
                </a:solidFill>
                <a:latin typeface="SimSun"/>
                <a:cs typeface="SimSun"/>
              </a:rPr>
              <a:t>正常关闭 </a:t>
            </a:r>
            <a:r>
              <a:rPr dirty="0" sz="1050" spc="80">
                <a:solidFill>
                  <a:srgbClr val="1D283B"/>
                </a:solidFill>
                <a:latin typeface="SimSun"/>
                <a:cs typeface="SimSun"/>
              </a:rPr>
              <a:t>Tomcat</a:t>
            </a:r>
            <a:r>
              <a:rPr dirty="0" sz="1050" spc="-45">
                <a:solidFill>
                  <a:srgbClr val="1D283B"/>
                </a:solidFill>
                <a:latin typeface="SimSun"/>
                <a:cs typeface="SimSun"/>
              </a:rPr>
              <a:t> 时，为了让线上用户在重启期</a:t>
            </a:r>
            <a:r>
              <a:rPr dirty="0" sz="1050" spc="5">
                <a:solidFill>
                  <a:srgbClr val="1D283B"/>
                </a:solidFill>
                <a:latin typeface="SimSun"/>
                <a:cs typeface="SimSun"/>
              </a:rPr>
              <a:t>间不丢失登录状态，</a:t>
            </a:r>
            <a:r>
              <a:rPr dirty="0" sz="1050" spc="65">
                <a:solidFill>
                  <a:srgbClr val="1D283B"/>
                </a:solidFill>
                <a:latin typeface="SimSun"/>
                <a:cs typeface="SimSun"/>
              </a:rPr>
              <a:t>Tomcat</a:t>
            </a:r>
            <a:r>
              <a:rPr dirty="0" sz="1050" spc="-65">
                <a:solidFill>
                  <a:srgbClr val="1D283B"/>
                </a:solidFill>
                <a:latin typeface="SimSun"/>
                <a:cs typeface="SimSun"/>
              </a:rPr>
              <a:t> 会把当前全量存活的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Session</a:t>
            </a:r>
            <a:r>
              <a:rPr dirty="0" sz="1050" spc="-40">
                <a:solidFill>
                  <a:srgbClr val="1D283B"/>
                </a:solidFill>
                <a:latin typeface="SimSun"/>
                <a:cs typeface="SimSun"/>
              </a:rPr>
              <a:t> 进行“全面钝化”。重启成功后“集体活化”，</a:t>
            </a:r>
            <a:r>
              <a:rPr dirty="0" sz="1050" spc="-5">
                <a:solidFill>
                  <a:srgbClr val="1D283B"/>
                </a:solidFill>
                <a:latin typeface="SimSun"/>
                <a:cs typeface="SimSun"/>
              </a:rPr>
              <a:t>实现用户无感知的无缝切换。</a:t>
            </a:r>
            <a:endParaRPr sz="1050">
              <a:latin typeface="SimSun"/>
              <a:cs typeface="SimSun"/>
            </a:endParaRPr>
          </a:p>
          <a:p>
            <a:pPr marL="203200" marR="5080" indent="-146685">
              <a:lnSpc>
                <a:spcPct val="136000"/>
              </a:lnSpc>
              <a:spcBef>
                <a:spcPts val="415"/>
              </a:spcBef>
              <a:buFont typeface="SimSun"/>
              <a:buAutoNum type="arabicPeriod"/>
              <a:tabLst>
                <a:tab pos="203200" algn="l"/>
              </a:tabLst>
            </a:pPr>
            <a:r>
              <a:rPr dirty="0" sz="1050" b="1">
                <a:solidFill>
                  <a:srgbClr val="1D283B"/>
                </a:solidFill>
                <a:latin typeface="Microsoft JhengHei"/>
                <a:cs typeface="Microsoft JhengHei"/>
              </a:rPr>
              <a:t>内存调优与高并发防御（需手动配置）：</a:t>
            </a:r>
            <a:r>
              <a:rPr dirty="0" sz="1050" spc="-30" b="1">
                <a:solidFill>
                  <a:srgbClr val="1D283B"/>
                </a:solidFill>
                <a:latin typeface="Microsoft JhengHei"/>
                <a:cs typeface="Microsoft JhengHei"/>
              </a:rPr>
              <a:t> </a:t>
            </a:r>
            <a:r>
              <a:rPr dirty="0" sz="1050" spc="-145">
                <a:solidFill>
                  <a:srgbClr val="1D283B"/>
                </a:solidFill>
                <a:latin typeface="SimSun"/>
                <a:cs typeface="SimSun"/>
              </a:rPr>
              <a:t>在 </a:t>
            </a:r>
            <a:r>
              <a:rPr dirty="0" sz="1050">
                <a:solidFill>
                  <a:srgbClr val="1D283B"/>
                </a:solidFill>
                <a:latin typeface="Courier New"/>
                <a:cs typeface="Courier New"/>
              </a:rPr>
              <a:t>context.xml</a:t>
            </a:r>
            <a:r>
              <a:rPr dirty="0" sz="1050" spc="-395">
                <a:solidFill>
                  <a:srgbClr val="1D283B"/>
                </a:solidFill>
                <a:latin typeface="Courier New"/>
                <a:cs typeface="Courier New"/>
              </a:rPr>
              <a:t> </a:t>
            </a:r>
            <a:r>
              <a:rPr dirty="0" sz="1050" spc="-5">
                <a:solidFill>
                  <a:srgbClr val="1D283B"/>
                </a:solidFill>
                <a:latin typeface="SimSun"/>
                <a:cs typeface="SimSun"/>
              </a:rPr>
              <a:t>中配置高水位线。当并发用户暴增，内存中的</a:t>
            </a:r>
            <a:r>
              <a:rPr dirty="0" sz="1050" spc="-50">
                <a:solidFill>
                  <a:srgbClr val="1D283B"/>
                </a:solidFill>
                <a:latin typeface="SimSun"/>
                <a:cs typeface="SimSun"/>
              </a:rPr>
              <a:t>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Session</a:t>
            </a:r>
            <a:r>
              <a:rPr dirty="0" sz="1050" spc="-70">
                <a:solidFill>
                  <a:srgbClr val="1D283B"/>
                </a:solidFill>
                <a:latin typeface="SimSun"/>
                <a:cs typeface="SimSun"/>
              </a:rPr>
              <a:t> 总数超过设定的 </a:t>
            </a:r>
            <a:r>
              <a:rPr dirty="0" sz="1050">
                <a:solidFill>
                  <a:srgbClr val="1D283B"/>
                </a:solidFill>
                <a:latin typeface="Courier New"/>
                <a:cs typeface="Courier New"/>
              </a:rPr>
              <a:t>maxActiveSessions</a:t>
            </a:r>
            <a:r>
              <a:rPr dirty="0" sz="1050" spc="-375">
                <a:solidFill>
                  <a:srgbClr val="1D283B"/>
                </a:solidFill>
                <a:latin typeface="Courier New"/>
                <a:cs typeface="Courier New"/>
              </a:rPr>
              <a:t> </a:t>
            </a:r>
            <a:r>
              <a:rPr dirty="0" sz="1050" spc="15">
                <a:solidFill>
                  <a:srgbClr val="1D283B"/>
                </a:solidFill>
                <a:latin typeface="SimSun"/>
                <a:cs typeface="SimSun"/>
              </a:rPr>
              <a:t>阀值时，</a:t>
            </a:r>
            <a:r>
              <a:rPr dirty="0" sz="1050" spc="65">
                <a:solidFill>
                  <a:srgbClr val="1D283B"/>
                </a:solidFill>
                <a:latin typeface="SimSun"/>
                <a:cs typeface="SimSun"/>
              </a:rPr>
              <a:t>Tomcat</a:t>
            </a:r>
            <a:r>
              <a:rPr dirty="0" sz="1050" spc="-110">
                <a:solidFill>
                  <a:srgbClr val="1D283B"/>
                </a:solidFill>
                <a:latin typeface="SimSun"/>
                <a:cs typeface="SimSun"/>
              </a:rPr>
              <a:t> 会根据 </a:t>
            </a:r>
            <a:r>
              <a:rPr dirty="0" sz="1050" spc="95">
                <a:solidFill>
                  <a:srgbClr val="1D283B"/>
                </a:solidFill>
                <a:latin typeface="SimSun"/>
                <a:cs typeface="SimSun"/>
              </a:rPr>
              <a:t>LRU（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最近最少使用）</a:t>
            </a:r>
            <a:r>
              <a:rPr dirty="0" sz="1050" spc="-15">
                <a:solidFill>
                  <a:srgbClr val="1D283B"/>
                </a:solidFill>
                <a:latin typeface="SimSun"/>
                <a:cs typeface="SimSun"/>
              </a:rPr>
              <a:t>算法，将</a:t>
            </a:r>
            <a:r>
              <a:rPr dirty="0" sz="1050" spc="-5">
                <a:solidFill>
                  <a:srgbClr val="1D283B"/>
                </a:solidFill>
                <a:latin typeface="SimSun"/>
                <a:cs typeface="SimSun"/>
              </a:rPr>
              <a:t>那些长时间不操作但又未到超时时间的“闲置精灵”强行钝化到硬盘，腾出堆内存，待其卷土重来时再做活</a:t>
            </a:r>
            <a:r>
              <a:rPr dirty="0" sz="1050" spc="-25">
                <a:solidFill>
                  <a:srgbClr val="1D283B"/>
                </a:solidFill>
                <a:latin typeface="SimSun"/>
                <a:cs typeface="SimSun"/>
              </a:rPr>
              <a:t>化。</a:t>
            </a:r>
            <a:endParaRPr sz="10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050">
              <a:latin typeface="SimSun"/>
              <a:cs typeface="SimSun"/>
            </a:endParaRPr>
          </a:p>
          <a:p>
            <a:pPr marL="389890">
              <a:lnSpc>
                <a:spcPct val="100000"/>
              </a:lnSpc>
            </a:pPr>
            <a:r>
              <a:rPr dirty="0" sz="1050" spc="-10" b="1">
                <a:solidFill>
                  <a:srgbClr val="0369A1"/>
                </a:solidFill>
                <a:latin typeface="Microsoft JhengHei"/>
                <a:cs typeface="Microsoft JhengHei"/>
              </a:rPr>
              <a:t>架构避坑红线</a:t>
            </a:r>
            <a:endParaRPr sz="1050">
              <a:latin typeface="Microsoft JhengHei"/>
              <a:cs typeface="Microsoft JhengHei"/>
            </a:endParaRPr>
          </a:p>
          <a:p>
            <a:pPr algn="just" marL="193675" marR="125730">
              <a:lnSpc>
                <a:spcPct val="135300"/>
              </a:lnSpc>
              <a:spcBef>
                <a:spcPts val="395"/>
              </a:spcBef>
              <a:tabLst>
                <a:tab pos="2706370" algn="l"/>
                <a:tab pos="4882515" algn="l"/>
              </a:tabLst>
            </a:pP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所有希望支持钝化与活化的业务实体类（如存放在</a:t>
            </a:r>
            <a:r>
              <a:rPr dirty="0" sz="1050" spc="-135">
                <a:solidFill>
                  <a:srgbClr val="1D283B"/>
                </a:solidFill>
                <a:latin typeface="SimSun"/>
                <a:cs typeface="SimSun"/>
              </a:rPr>
              <a:t> </a:t>
            </a:r>
            <a:r>
              <a:rPr dirty="0" sz="1050" spc="10">
                <a:solidFill>
                  <a:srgbClr val="1D283B"/>
                </a:solidFill>
                <a:latin typeface="SimSun"/>
                <a:cs typeface="SimSun"/>
              </a:rPr>
              <a:t>Session</a:t>
            </a:r>
            <a:r>
              <a:rPr dirty="0" sz="1050" spc="-135">
                <a:solidFill>
                  <a:srgbClr val="1D283B"/>
                </a:solidFill>
                <a:latin typeface="SimSun"/>
                <a:cs typeface="SimSun"/>
              </a:rPr>
              <a:t>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中的</a:t>
            </a:r>
            <a:r>
              <a:rPr dirty="0" sz="1050" spc="-135">
                <a:solidFill>
                  <a:srgbClr val="1D283B"/>
                </a:solidFill>
                <a:latin typeface="SimSun"/>
                <a:cs typeface="SimSun"/>
              </a:rPr>
              <a:t> </a:t>
            </a:r>
            <a:r>
              <a:rPr dirty="0" sz="1050" spc="40">
                <a:solidFill>
                  <a:srgbClr val="1D283B"/>
                </a:solidFill>
                <a:latin typeface="SimSun"/>
                <a:cs typeface="SimSun"/>
              </a:rPr>
              <a:t>User</a:t>
            </a:r>
            <a:r>
              <a:rPr dirty="0" sz="1050" spc="-35">
                <a:solidFill>
                  <a:srgbClr val="1D283B"/>
                </a:solidFill>
                <a:latin typeface="SimSun"/>
                <a:cs typeface="SimSun"/>
              </a:rPr>
              <a:t>、</a:t>
            </a:r>
            <a:r>
              <a:rPr dirty="0" sz="1050" spc="-20">
                <a:solidFill>
                  <a:srgbClr val="1D283B"/>
                </a:solidFill>
                <a:latin typeface="SimSun"/>
                <a:cs typeface="SimSun"/>
              </a:rPr>
              <a:t>Cart</a:t>
            </a:r>
            <a:r>
              <a:rPr dirty="0" sz="1050" spc="-135">
                <a:solidFill>
                  <a:srgbClr val="1D283B"/>
                </a:solidFill>
                <a:latin typeface="SimSun"/>
                <a:cs typeface="SimSun"/>
              </a:rPr>
              <a:t>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等对象）</a:t>
            </a:r>
            <a:r>
              <a:rPr dirty="0" sz="1050" spc="-5">
                <a:solidFill>
                  <a:srgbClr val="1D283B"/>
                </a:solidFill>
                <a:latin typeface="SimSun"/>
                <a:cs typeface="SimSun"/>
              </a:rPr>
              <a:t>，</a:t>
            </a:r>
            <a:r>
              <a:rPr dirty="0" sz="1050" b="1">
                <a:solidFill>
                  <a:srgbClr val="1D283B"/>
                </a:solidFill>
                <a:latin typeface="Microsoft JhengHei"/>
                <a:cs typeface="Microsoft JhengHei"/>
              </a:rPr>
              <a:t>必须无条件实现 </a:t>
            </a:r>
            <a:r>
              <a:rPr dirty="0" sz="1050" b="1">
                <a:solidFill>
                  <a:srgbClr val="1D283B"/>
                </a:solidFill>
                <a:latin typeface="Courier New"/>
                <a:cs typeface="Courier New"/>
              </a:rPr>
              <a:t>java.io.Serializable	</a:t>
            </a:r>
            <a:r>
              <a:rPr dirty="0" sz="1050" b="1">
                <a:solidFill>
                  <a:srgbClr val="1D283B"/>
                </a:solidFill>
                <a:latin typeface="Microsoft JhengHei"/>
                <a:cs typeface="Microsoft JhengHei"/>
              </a:rPr>
              <a:t>接口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。否则</a:t>
            </a:r>
            <a:r>
              <a:rPr dirty="0" sz="1050" spc="65">
                <a:solidFill>
                  <a:srgbClr val="1D283B"/>
                </a:solidFill>
                <a:latin typeface="SimSun"/>
                <a:cs typeface="SimSun"/>
              </a:rPr>
              <a:t>，Tomcat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	在尝试钝化时会疯狂抛出 </a:t>
            </a:r>
            <a:r>
              <a:rPr dirty="0" sz="1050">
                <a:solidFill>
                  <a:srgbClr val="1D283B"/>
                </a:solidFill>
                <a:latin typeface="Courier New"/>
                <a:cs typeface="Courier New"/>
              </a:rPr>
              <a:t>NotSerializableException</a:t>
            </a:r>
            <a:r>
              <a:rPr dirty="0" sz="1050" spc="-395">
                <a:solidFill>
                  <a:srgbClr val="1D283B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异常，直接导致会话数据彻底丢失。</a:t>
            </a:r>
            <a:endParaRPr sz="10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40000" y="720000"/>
            <a:ext cx="38100" cy="284480"/>
          </a:xfrm>
          <a:custGeom>
            <a:avLst/>
            <a:gdLst/>
            <a:ahLst/>
            <a:cxnLst/>
            <a:rect l="l" t="t" r="r" b="b"/>
            <a:pathLst>
              <a:path w="38100" h="284480">
                <a:moveTo>
                  <a:pt x="38100" y="284480"/>
                </a:moveTo>
                <a:lnTo>
                  <a:pt x="0" y="284480"/>
                </a:lnTo>
                <a:lnTo>
                  <a:pt x="0" y="0"/>
                </a:lnTo>
                <a:lnTo>
                  <a:pt x="38100" y="0"/>
                </a:lnTo>
                <a:lnTo>
                  <a:pt x="38100" y="284480"/>
                </a:lnTo>
                <a:close/>
              </a:path>
            </a:pathLst>
          </a:custGeom>
          <a:solidFill>
            <a:srgbClr val="0183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27299" y="749261"/>
            <a:ext cx="6505575" cy="4471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F162A"/>
                </a:solidFill>
                <a:latin typeface="Microsoft JhengHei"/>
                <a:cs typeface="Microsoft JhengHei"/>
              </a:rPr>
              <a:t>7. 深度解惑：关闭浏览器后，Session</a:t>
            </a:r>
            <a:r>
              <a:rPr dirty="0" sz="1400" spc="-10" b="1">
                <a:solidFill>
                  <a:srgbClr val="0F162A"/>
                </a:solidFill>
                <a:latin typeface="Microsoft JhengHei"/>
                <a:cs typeface="Microsoft JhengHei"/>
              </a:rPr>
              <a:t> 会被立即销毁吗？</a:t>
            </a:r>
            <a:endParaRPr sz="1400">
              <a:latin typeface="Microsoft JhengHei"/>
              <a:cs typeface="Microsoft JhengHei"/>
            </a:endParaRPr>
          </a:p>
          <a:p>
            <a:pPr algn="just" marL="12700" marR="83820">
              <a:lnSpc>
                <a:spcPct val="133300"/>
              </a:lnSpc>
              <a:spcBef>
                <a:spcPts val="1180"/>
              </a:spcBef>
            </a:pPr>
            <a:r>
              <a:rPr dirty="0" sz="1050" spc="-5">
                <a:solidFill>
                  <a:srgbClr val="1D283B"/>
                </a:solidFill>
                <a:latin typeface="SimSun"/>
                <a:cs typeface="SimSun"/>
              </a:rPr>
              <a:t>这是一个在初学者乃至部分中级开发人员中广泛流传的经典迷思：“关闭浏览器后，我的账号就退出了，这说</a:t>
            </a:r>
            <a:r>
              <a:rPr dirty="0" sz="1050" spc="-40">
                <a:solidFill>
                  <a:srgbClr val="1D283B"/>
                </a:solidFill>
                <a:latin typeface="SimSun"/>
                <a:cs typeface="SimSun"/>
              </a:rPr>
              <a:t>明服务器上的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Session</a:t>
            </a:r>
            <a:r>
              <a:rPr dirty="0" sz="1050" spc="-40">
                <a:solidFill>
                  <a:srgbClr val="1D283B"/>
                </a:solidFill>
                <a:latin typeface="SimSun"/>
                <a:cs typeface="SimSun"/>
              </a:rPr>
              <a:t> 瞬间被销毁了。”</a:t>
            </a:r>
            <a:r>
              <a:rPr dirty="0" sz="1050" spc="-5" b="1">
                <a:solidFill>
                  <a:srgbClr val="1D283B"/>
                </a:solidFill>
                <a:latin typeface="Microsoft JhengHei"/>
                <a:cs typeface="Microsoft JhengHei"/>
              </a:rPr>
              <a:t>这个结论是完全错误的。</a:t>
            </a:r>
            <a:endParaRPr sz="105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dirty="0" sz="1150" spc="-10" b="1">
                <a:solidFill>
                  <a:srgbClr val="1D283B"/>
                </a:solidFill>
                <a:latin typeface="Microsoft JhengHei"/>
                <a:cs typeface="Microsoft JhengHei"/>
              </a:rPr>
              <a:t>完整底层链路拆解：</a:t>
            </a:r>
            <a:endParaRPr sz="1150">
              <a:latin typeface="Microsoft JhengHei"/>
              <a:cs typeface="Microsoft JhengHei"/>
            </a:endParaRPr>
          </a:p>
          <a:p>
            <a:pPr algn="just" marL="12700" marR="5080">
              <a:lnSpc>
                <a:spcPct val="133300"/>
              </a:lnSpc>
              <a:spcBef>
                <a:spcPts val="765"/>
              </a:spcBef>
            </a:pPr>
            <a:r>
              <a:rPr dirty="0" sz="1050" spc="35" b="1">
                <a:solidFill>
                  <a:srgbClr val="1D283B"/>
                </a:solidFill>
                <a:latin typeface="Microsoft JhengHei"/>
                <a:cs typeface="Microsoft JhengHei"/>
              </a:rPr>
              <a:t>第一步：协议层面的断连。  </a:t>
            </a:r>
            <a:r>
              <a:rPr dirty="0" sz="1050" spc="140">
                <a:solidFill>
                  <a:srgbClr val="1D283B"/>
                </a:solidFill>
                <a:latin typeface="SimSun"/>
                <a:cs typeface="SimSun"/>
              </a:rPr>
              <a:t>HTTP</a:t>
            </a:r>
            <a:r>
              <a:rPr dirty="0" sz="1050" spc="-25">
                <a:solidFill>
                  <a:srgbClr val="1D283B"/>
                </a:solidFill>
                <a:latin typeface="SimSun"/>
                <a:cs typeface="SimSun"/>
              </a:rPr>
              <a:t>  协议运行在短暂的请求-响应模型之上。当浏览器完成页面渲染后，底层的</a:t>
            </a:r>
            <a:r>
              <a:rPr dirty="0" sz="1050" spc="-50">
                <a:solidFill>
                  <a:srgbClr val="1D283B"/>
                </a:solidFill>
                <a:latin typeface="SimSun"/>
                <a:cs typeface="SimSun"/>
              </a:rPr>
              <a:t> </a:t>
            </a:r>
            <a:r>
              <a:rPr dirty="0" sz="1050" spc="114">
                <a:solidFill>
                  <a:srgbClr val="1D283B"/>
                </a:solidFill>
                <a:latin typeface="SimSun"/>
                <a:cs typeface="SimSun"/>
              </a:rPr>
              <a:t>TCP</a:t>
            </a:r>
            <a:r>
              <a:rPr dirty="0" sz="1050" spc="5">
                <a:solidFill>
                  <a:srgbClr val="1D283B"/>
                </a:solidFill>
                <a:latin typeface="SimSun"/>
                <a:cs typeface="SimSun"/>
              </a:rPr>
              <a:t> 连接就已经断开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（或复用）。当你点击右上角的“关闭”按钮时，浏览器</a:t>
            </a:r>
            <a:r>
              <a:rPr dirty="0" sz="1050" b="1">
                <a:solidFill>
                  <a:srgbClr val="1D283B"/>
                </a:solidFill>
                <a:latin typeface="Microsoft JhengHei"/>
                <a:cs typeface="Microsoft JhengHei"/>
              </a:rPr>
              <a:t>绝对不会</a:t>
            </a:r>
            <a:r>
              <a:rPr dirty="0" sz="1050" spc="-5">
                <a:solidFill>
                  <a:srgbClr val="1D283B"/>
                </a:solidFill>
                <a:latin typeface="SimSun"/>
                <a:cs typeface="SimSun"/>
              </a:rPr>
              <a:t>向后端发送任何通知报文，服务器对此一无所知。</a:t>
            </a:r>
            <a:endParaRPr sz="1050">
              <a:latin typeface="SimSun"/>
              <a:cs typeface="SimSun"/>
            </a:endParaRPr>
          </a:p>
          <a:p>
            <a:pPr algn="just" marL="12700" marR="5080">
              <a:lnSpc>
                <a:spcPct val="135300"/>
              </a:lnSpc>
              <a:spcBef>
                <a:spcPts val="875"/>
              </a:spcBef>
            </a:pPr>
            <a:r>
              <a:rPr dirty="0" sz="1050" spc="10" b="1">
                <a:solidFill>
                  <a:srgbClr val="1D283B"/>
                </a:solidFill>
                <a:latin typeface="Microsoft JhengHei"/>
                <a:cs typeface="Microsoft JhengHei"/>
              </a:rPr>
              <a:t>第二步：旧 </a:t>
            </a:r>
            <a:r>
              <a:rPr dirty="0" sz="1050" spc="15" b="1">
                <a:solidFill>
                  <a:srgbClr val="1D283B"/>
                </a:solidFill>
                <a:latin typeface="Microsoft JhengHei"/>
                <a:cs typeface="Microsoft JhengHei"/>
              </a:rPr>
              <a:t>Session</a:t>
            </a:r>
            <a:r>
              <a:rPr dirty="0" sz="1050" spc="5" b="1">
                <a:solidFill>
                  <a:srgbClr val="1D283B"/>
                </a:solidFill>
                <a:latin typeface="Microsoft JhengHei"/>
                <a:cs typeface="Microsoft JhengHei"/>
              </a:rPr>
              <a:t> 的孤独等待。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既然服务器不知道你走了，那份内存档案</a:t>
            </a:r>
            <a:r>
              <a:rPr dirty="0" sz="1050" spc="5">
                <a:solidFill>
                  <a:srgbClr val="1D283B"/>
                </a:solidFill>
                <a:latin typeface="SimSun"/>
                <a:cs typeface="SimSun"/>
              </a:rPr>
              <a:t>（Session</a:t>
            </a:r>
            <a:r>
              <a:rPr dirty="0" sz="1050" spc="-70">
                <a:solidFill>
                  <a:srgbClr val="1D283B"/>
                </a:solidFill>
                <a:latin typeface="SimSun"/>
                <a:cs typeface="SimSun"/>
              </a:rPr>
              <a:t> 对象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）就会依然静静地</a:t>
            </a:r>
            <a:r>
              <a:rPr dirty="0" sz="1050" spc="-10">
                <a:solidFill>
                  <a:srgbClr val="1D283B"/>
                </a:solidFill>
                <a:latin typeface="SimSun"/>
                <a:cs typeface="SimSun"/>
              </a:rPr>
              <a:t>躺在服务器内存中，持续处于活跃状态，直到它耗尽了最后的 </a:t>
            </a:r>
            <a:r>
              <a:rPr dirty="0" sz="1050">
                <a:solidFill>
                  <a:srgbClr val="1D283B"/>
                </a:solidFill>
                <a:latin typeface="Courier New"/>
                <a:cs typeface="Courier New"/>
              </a:rPr>
              <a:t>session-timeout</a:t>
            </a:r>
            <a:r>
              <a:rPr dirty="0" sz="1050" spc="-320">
                <a:solidFill>
                  <a:srgbClr val="1D283B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额度，才会由服务器的守护线程完成清理。</a:t>
            </a:r>
            <a:endParaRPr sz="1050">
              <a:latin typeface="SimSun"/>
              <a:cs typeface="SimSun"/>
            </a:endParaRPr>
          </a:p>
          <a:p>
            <a:pPr algn="just" marL="12700" marR="5080">
              <a:lnSpc>
                <a:spcPct val="134700"/>
              </a:lnSpc>
              <a:spcBef>
                <a:spcPts val="885"/>
              </a:spcBef>
            </a:pPr>
            <a:r>
              <a:rPr dirty="0" sz="1050" spc="280" b="1">
                <a:solidFill>
                  <a:srgbClr val="1D283B"/>
                </a:solidFill>
                <a:latin typeface="Microsoft JhengHei"/>
                <a:cs typeface="Microsoft JhengHei"/>
              </a:rPr>
              <a:t>第三步：会话级 </a:t>
            </a:r>
            <a:r>
              <a:rPr dirty="0" sz="1050" spc="5" b="1">
                <a:solidFill>
                  <a:srgbClr val="1D283B"/>
                </a:solidFill>
                <a:latin typeface="Microsoft JhengHei"/>
                <a:cs typeface="Microsoft JhengHei"/>
              </a:rPr>
              <a:t>Cookie</a:t>
            </a:r>
            <a:r>
              <a:rPr dirty="0" sz="1050" spc="2250" b="1">
                <a:solidFill>
                  <a:srgbClr val="1D283B"/>
                </a:solidFill>
                <a:latin typeface="Microsoft JhengHei"/>
                <a:cs typeface="Microsoft JhengHei"/>
              </a:rPr>
              <a:t> </a:t>
            </a:r>
            <a:r>
              <a:rPr dirty="0" sz="1050" spc="450" b="1">
                <a:solidFill>
                  <a:srgbClr val="1D283B"/>
                </a:solidFill>
                <a:latin typeface="Microsoft JhengHei"/>
                <a:cs typeface="Microsoft JhengHei"/>
              </a:rPr>
              <a:t>的消亡。 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为什么重新打开浏览器后状态丢失了？因为默认情况下，通过 </a:t>
            </a:r>
            <a:r>
              <a:rPr dirty="0" sz="1050">
                <a:solidFill>
                  <a:srgbClr val="1D283B"/>
                </a:solidFill>
                <a:latin typeface="Courier New"/>
                <a:cs typeface="Courier New"/>
              </a:rPr>
              <a:t>request.getSession()</a:t>
            </a:r>
            <a:r>
              <a:rPr dirty="0" sz="1050" spc="-320">
                <a:solidFill>
                  <a:srgbClr val="1D283B"/>
                </a:solidFill>
                <a:latin typeface="Courier New"/>
                <a:cs typeface="Courier New"/>
              </a:rPr>
              <a:t> </a:t>
            </a:r>
            <a:r>
              <a:rPr dirty="0" sz="1050" spc="-55">
                <a:solidFill>
                  <a:srgbClr val="1D283B"/>
                </a:solidFill>
                <a:latin typeface="SimSun"/>
                <a:cs typeface="SimSun"/>
              </a:rPr>
              <a:t>颁发的 </a:t>
            </a:r>
            <a:r>
              <a:rPr dirty="0" sz="1050">
                <a:solidFill>
                  <a:srgbClr val="1D283B"/>
                </a:solidFill>
                <a:latin typeface="Courier New"/>
                <a:cs typeface="Courier New"/>
              </a:rPr>
              <a:t>JSESSIONID</a:t>
            </a:r>
            <a:r>
              <a:rPr dirty="0" sz="1050" spc="-320">
                <a:solidFill>
                  <a:srgbClr val="1D283B"/>
                </a:solidFill>
                <a:latin typeface="Courier New"/>
                <a:cs typeface="Courier New"/>
              </a:rPr>
              <a:t> </a:t>
            </a:r>
            <a:r>
              <a:rPr dirty="0" sz="1050" spc="35">
                <a:solidFill>
                  <a:srgbClr val="1D283B"/>
                </a:solidFill>
                <a:latin typeface="SimSun"/>
                <a:cs typeface="SimSun"/>
              </a:rPr>
              <a:t>Cookie</a:t>
            </a:r>
            <a:r>
              <a:rPr dirty="0" sz="1050" spc="-60">
                <a:solidFill>
                  <a:srgbClr val="1D283B"/>
                </a:solidFill>
                <a:latin typeface="SimSun"/>
                <a:cs typeface="SimSun"/>
              </a:rPr>
              <a:t> 是一个</a:t>
            </a:r>
            <a:r>
              <a:rPr dirty="0" sz="1050" spc="10" b="1">
                <a:solidFill>
                  <a:srgbClr val="1D283B"/>
                </a:solidFill>
                <a:latin typeface="Microsoft JhengHei"/>
                <a:cs typeface="Microsoft JhengHei"/>
              </a:rPr>
              <a:t>“会话级 Cookie”（Session</a:t>
            </a:r>
            <a:r>
              <a:rPr dirty="0" sz="1050" spc="50" b="1">
                <a:solidFill>
                  <a:srgbClr val="1D283B"/>
                </a:solidFill>
                <a:latin typeface="Microsoft JhengHei"/>
                <a:cs typeface="Microsoft JhengHei"/>
              </a:rPr>
              <a:t> </a:t>
            </a:r>
            <a:r>
              <a:rPr dirty="0" sz="1050" spc="5" b="1">
                <a:solidFill>
                  <a:srgbClr val="1D283B"/>
                </a:solidFill>
                <a:latin typeface="Microsoft JhengHei"/>
                <a:cs typeface="Microsoft JhengHei"/>
              </a:rPr>
              <a:t>Cookie）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。这</a:t>
            </a:r>
            <a:r>
              <a:rPr dirty="0" sz="1050" spc="95">
                <a:solidFill>
                  <a:srgbClr val="1D283B"/>
                </a:solidFill>
                <a:latin typeface="SimSun"/>
                <a:cs typeface="SimSun"/>
              </a:rPr>
              <a:t>种 </a:t>
            </a:r>
            <a:r>
              <a:rPr dirty="0" sz="1050" spc="35">
                <a:solidFill>
                  <a:srgbClr val="1D283B"/>
                </a:solidFill>
                <a:latin typeface="SimSun"/>
                <a:cs typeface="SimSun"/>
              </a:rPr>
              <a:t>Cookie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 的生命周期被绑定在浏览器的进程内存中，没有被赋予磁盘持久化时间。当浏览器关闭，进程被操作系统回收，内存清空，</a:t>
            </a:r>
            <a:r>
              <a:rPr dirty="0" sz="1050" b="1">
                <a:solidFill>
                  <a:srgbClr val="1D283B"/>
                </a:solidFill>
                <a:latin typeface="Microsoft JhengHei"/>
                <a:cs typeface="Microsoft JhengHei"/>
              </a:rPr>
              <a:t>这张写着旧卡号的卡片在客户端彻底烟消云散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。</a:t>
            </a:r>
            <a:endParaRPr sz="1050">
              <a:latin typeface="SimSun"/>
              <a:cs typeface="SimSun"/>
            </a:endParaRPr>
          </a:p>
          <a:p>
            <a:pPr algn="just" marL="12700" marR="5080">
              <a:lnSpc>
                <a:spcPct val="135300"/>
              </a:lnSpc>
              <a:spcBef>
                <a:spcPts val="875"/>
              </a:spcBef>
            </a:pPr>
            <a:r>
              <a:rPr dirty="0" sz="1050" b="1">
                <a:solidFill>
                  <a:srgbClr val="1D283B"/>
                </a:solidFill>
                <a:latin typeface="Microsoft JhengHei"/>
                <a:cs typeface="Microsoft JhengHei"/>
              </a:rPr>
              <a:t>第四步：新旧交替。 </a:t>
            </a:r>
            <a:r>
              <a:rPr dirty="0" sz="1050" spc="-10">
                <a:solidFill>
                  <a:srgbClr val="1D283B"/>
                </a:solidFill>
                <a:latin typeface="SimSun"/>
                <a:cs typeface="SimSun"/>
              </a:rPr>
              <a:t>当你重新打开浏览器二次访问时，由于无法在请求头中附带旧的 </a:t>
            </a:r>
            <a:r>
              <a:rPr dirty="0" sz="1050">
                <a:solidFill>
                  <a:srgbClr val="1D283B"/>
                </a:solidFill>
                <a:latin typeface="Courier New"/>
                <a:cs typeface="Courier New"/>
              </a:rPr>
              <a:t>JSESSIONID</a:t>
            </a:r>
            <a:r>
              <a:rPr dirty="0" sz="1050">
                <a:solidFill>
                  <a:srgbClr val="1D283B"/>
                </a:solidFill>
                <a:latin typeface="SimSun"/>
                <a:cs typeface="SimSun"/>
              </a:rPr>
              <a:t>，服务器认</a:t>
            </a:r>
            <a:r>
              <a:rPr dirty="0" sz="1050" spc="-15">
                <a:solidFill>
                  <a:srgbClr val="1D283B"/>
                </a:solidFill>
                <a:latin typeface="SimSun"/>
                <a:cs typeface="SimSun"/>
              </a:rPr>
              <a:t>不出你，只能为你开辟一块崭新的 </a:t>
            </a:r>
            <a:r>
              <a:rPr dirty="0" sz="1050" spc="10">
                <a:solidFill>
                  <a:srgbClr val="1D283B"/>
                </a:solidFill>
                <a:latin typeface="SimSun"/>
                <a:cs typeface="SimSun"/>
              </a:rPr>
              <a:t>Session</a:t>
            </a:r>
            <a:r>
              <a:rPr dirty="0" sz="1050" spc="-35">
                <a:solidFill>
                  <a:srgbClr val="1D283B"/>
                </a:solidFill>
                <a:latin typeface="SimSun"/>
                <a:cs typeface="SimSun"/>
              </a:rPr>
              <a:t> 区域。此时，</a:t>
            </a:r>
            <a:r>
              <a:rPr dirty="0" sz="1050" spc="15" b="1">
                <a:solidFill>
                  <a:srgbClr val="1D283B"/>
                </a:solidFill>
                <a:latin typeface="Microsoft JhengHei"/>
                <a:cs typeface="Microsoft JhengHei"/>
              </a:rPr>
              <a:t>你的旧 Session</a:t>
            </a:r>
            <a:r>
              <a:rPr dirty="0" sz="1050" b="1">
                <a:solidFill>
                  <a:srgbClr val="1D283B"/>
                </a:solidFill>
                <a:latin typeface="Microsoft JhengHei"/>
                <a:cs typeface="Microsoft JhengHei"/>
              </a:rPr>
              <a:t> 还在服务器中做最后的垂死挣扎，而你已经拿到了新卡。</a:t>
            </a:r>
            <a:endParaRPr sz="1050">
              <a:latin typeface="Microsoft JhengHei"/>
              <a:cs typeface="Microsoft JhengHei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>
                <a:latin typeface="Palatino Linotype"/>
                <a:cs typeface="Palatino Linotype"/>
              </a:rPr>
              <a:t>Java</a:t>
            </a:r>
            <a:r>
              <a:rPr dirty="0" spc="55">
                <a:latin typeface="Palatino Linotype"/>
                <a:cs typeface="Palatino Linotype"/>
              </a:rPr>
              <a:t> </a:t>
            </a:r>
            <a:r>
              <a:rPr dirty="0">
                <a:latin typeface="Palatino Linotype"/>
                <a:cs typeface="Palatino Linotype"/>
              </a:rPr>
              <a:t>Web</a:t>
            </a:r>
            <a:r>
              <a:rPr dirty="0" spc="60">
                <a:latin typeface="Palatino Linotype"/>
                <a:cs typeface="Palatino Linotype"/>
              </a:rPr>
              <a:t> </a:t>
            </a:r>
            <a:r>
              <a:rPr dirty="0" spc="-40"/>
              <a:t>状态管理全景指南 — 开发与架构深度解析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100"/>
              <a:t>第 </a:t>
            </a:r>
            <a:fld id="{81D60167-4931-47E6-BA6A-407CBD079E47}" type="slidenum">
              <a:rPr dirty="0"/>
              <a:t>2</a:t>
            </a:fld>
            <a:r>
              <a:rPr dirty="0" spc="-125"/>
              <a:t>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D283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Web 状态管理：Session 与 Cookie 全景技术指南</dc:title>
  <dcterms:created xsi:type="dcterms:W3CDTF">2026-05-31T08:29:06Z</dcterms:created>
  <dcterms:modified xsi:type="dcterms:W3CDTF">2026-05-31T08:29:06Z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2026-05-31T00:00:00Z</vt:filetime>
  </property>
  <property fmtid="{D5CDD505-2E9C-101B-9397-08002B2CF9AE}" pid="3" name="Producer">
    <vt:lpwstr>WeasyPrint 62.3</vt:lpwstr>
  </property>
  <property fmtid="{D5CDD505-2E9C-101B-9397-08002B2CF9AE}" pid="4" name="LastSaved">
    <vt:filetime>2026-05-31T00:00:00Z</vt:filetime>
  </property>
</Properties>
</file>