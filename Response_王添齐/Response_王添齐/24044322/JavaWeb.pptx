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notesSlides/notesSlide1.xml" Type="http://schemas.openxmlformats.org/officeDocument/2006/relationships/notesSlide"/><Relationship Id="rId14" Target="notesSlides/notesSlide2.xml" Type="http://schemas.openxmlformats.org/officeDocument/2006/relationships/notesSlide"/><Relationship Id="rId15" Target="notesSlides/notesSlide3.xml" Type="http://schemas.openxmlformats.org/officeDocument/2006/relationships/notesSlide"/><Relationship Id="rId16" Target="notesSlides/notesSlide4.xml" Type="http://schemas.openxmlformats.org/officeDocument/2006/relationships/notesSlide"/><Relationship Id="rId2" Target="viewProps.xml" Type="http://schemas.openxmlformats.org/officeDocument/2006/relationships/viewProps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们来深入探讨JavaWeb开发中的一个核心概念——Person实体类。简单来说，实体类就是我们用来描述现实世界事物的软件模型，比如一个人。它的本质是一个普通的Java对象，也就是POJO。它的核心工作就是封装数据，并在我们的Web应用中扮演着数据载体的角色。在经典的MVC模式中，它就是Model层的重要组成部分，负责在不同层之间传递数据。右边的这张图就清晰地展示了数据是如何通过实体类在浏览器、控制器、服务和数据库之间流转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来看一个标准的Person类是如何构建的。一个好的实体类会遵循JavaBean规范。首先，它有私有的成员变量来存储数据。然后，提供构造方法来创建对象。最重要的是，通过Getter和Setter方法来安全地访问和修改这些变量。此外，重写toString方法可以方便我们调试，而重写equals和hashCode方法则是为了在集合中正确地管理对象。大家可以看到，这段代码就完整地展示了这些要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个普通的POJO虽然有用，但要让它和数据库自动交互，我们就需要用到JPA注解。通过添加像@Entity、@Id、@Column这样的注解，我们就能将一个普通的Java类变成一个强大的JPA实体。例如，@Entity告诉框架这是一个实体，@Id标记主键，@Column则详细定义了字段和数据库列的映射关系。这样，框架就能自动帮我们生成SQL，大大简化了数据库操作。右边的这张图就展示了一个典型的用户表结构，我们的Person类就是这样映射到这张表上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最后，我们来总结一下Person实体类的应用场景和一些最佳实践。在MVC架构中，它贯穿了Controller、Service和DAO层，是数据流转的核心载体。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让我们的代码更健壮，我们应该遵循一些关键的最佳实践：比如实现Serializable接口以支持分布式场景，使用包装类适配数据库NULL值，基于业务主键合理重写equals和hashCode方法，以及在涉及金额时使用BigDecimal。这些实践能帮助我们构建出更稳定、更易于维护的数据模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希望今天的分享对大家有所帮助，感谢观看！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jpeg" Type="http://schemas.openxmlformats.org/officeDocument/2006/relationships/image"/><Relationship Id="rId13" Target="../notesSlides/notesSlide2.xml" Type="http://schemas.openxmlformats.org/officeDocument/2006/relationships/notesSlid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4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jpeg" Type="http://schemas.openxmlformats.org/officeDocument/2006/relationships/image"/><Relationship Id="rId4" Target="../notesSlides/notesSlide4.xml" Type="http://schemas.openxmlformats.org/officeDocument/2006/relationships/notesSlide"/><Relationship Id="rId5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79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JavaWeb核心：Person实体类深度解析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461000" cy="2222500"/>
          </a:xfrm>
          <a:prstGeom prst="roundRect">
            <a:avLst>
              <a:gd name="adj" fmla="val 0"/>
            </a:avLst>
          </a:prstGeom>
          <a:solidFill>
            <a:srgbClr val="16212E">
              <a:alpha val="90000"/>
            </a:srgbClr>
          </a:solidFill>
          <a:ln w="12700" cmpd="sng" cap="flat">
            <a:solidFill>
              <a:srgbClr val="4ADE80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50800" cy="2222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879600"/>
            <a:ext cx="508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 Person 实体类？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413000"/>
            <a:ext cx="5143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实体类是对现实世界具体事物的软件抽象，本质上是遵循特定规范的</a:t>
            </a:r>
            <a:r>
              <a:rPr lang="en-US" b="true" i="false" strike="noStrike" u="none" sz="13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POJO (Plain Old Java Object)</a:t>
            </a:r>
            <a:r>
              <a:rPr lang="en-US" b="fals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。在数据持久化中，它通常与数据库表一一对应，类的每个实例即代表表中的一行记录，是连接业务逻辑与底层数据的桥梁。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191000"/>
            <a:ext cx="5461000" cy="2222500"/>
          </a:xfrm>
          <a:prstGeom prst="roundRect">
            <a:avLst>
              <a:gd name="adj" fmla="val 0"/>
            </a:avLst>
          </a:prstGeom>
          <a:solidFill>
            <a:srgbClr val="16212E">
              <a:alpha val="90000"/>
            </a:srgbClr>
          </a:solidFill>
          <a:ln w="12700" cmpd="sng" cap="flat">
            <a:solidFill>
              <a:srgbClr val="4ADE80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191000"/>
            <a:ext cx="50800" cy="2222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4292600"/>
            <a:ext cx="508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核心职责：数据的封装与管控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4826000"/>
            <a:ext cx="5143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核心使命是封装业务数据，通过私有字段（Field）存储状态，并对外提供标准的 Getter/Setter 方法来安全访问和修改数据。它屏蔽了内部数据的具体实现细节，保证了数据的一致性与安全性，是业务层与数据层交互的标准数据格式。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5390450" flipH="false" flipV="false">
            <a:off x="4191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rcRect l="0" r="0" t="6310" b="6310"/>
          <a:stretch>
            <a:fillRect/>
          </a:stretch>
        </p:blipFill>
        <p:spPr>
          <a:xfrm rot="0" flipH="false" flipV="false">
            <a:off x="6731000" y="1778000"/>
            <a:ext cx="4953000" cy="2159000"/>
          </a:xfrm>
          <a:prstGeom prst="rect">
            <a:avLst/>
          </a:prstGeom>
          <a:noFill/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6731000" y="4191000"/>
            <a:ext cx="4953000" cy="2222500"/>
          </a:xfrm>
          <a:prstGeom prst="roundRect">
            <a:avLst>
              <a:gd name="adj" fmla="val 0"/>
            </a:avLst>
          </a:prstGeom>
          <a:solidFill>
            <a:srgbClr val="16212E">
              <a:alpha val="90000"/>
            </a:srgbClr>
          </a:solidFill>
          <a:ln w="12700" cmpd="sng" cap="flat">
            <a:solidFill>
              <a:srgbClr val="4ADE80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731000" y="4191000"/>
            <a:ext cx="50800" cy="2222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921500" y="4292600"/>
            <a:ext cx="457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架构中的核心角色与价值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921500" y="4826000"/>
            <a:ext cx="4635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作为 MVC 模式中的 Model 核心，它不仅是各层间的数据传输载体，更是业务逻辑的基础容器。例如通过 `isAdult()` 等方法封装业务判断，实现了数据与行为的内聚。在复杂的 JavaWeb 应用中，实体类是构建稳定、可维护数据模型的基石。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79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结构与实现：构建一个标准的Person类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2095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20955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89000" y="1676400"/>
            <a:ext cx="279400" cy="279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270000" y="16637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私有成员变量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2057400"/>
            <a:ext cx="1841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封装核心数据状态，通过访问控制符限制外部直接操作，是实现数据安全与封装性的基础。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984500" y="1524000"/>
            <a:ext cx="2095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984500" y="1524000"/>
            <a:ext cx="20955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111500" y="1676400"/>
            <a:ext cx="279400" cy="279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3492500" y="16637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构造方法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111500" y="2057400"/>
            <a:ext cx="1841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对象实例化的核心入口，支持无参初始化或带参赋值，定义了对象诞生时的初始状态。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207000" y="1524000"/>
            <a:ext cx="2095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207000" y="1524000"/>
            <a:ext cx="20955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334000" y="1676400"/>
            <a:ext cx="279400" cy="279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5715000" y="16637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访问控制方法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334000" y="2057400"/>
            <a:ext cx="1841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提供受控的读写接口，在数据被访问或修改时可加入校验逻辑，保证业务规则不被破坏。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3238500"/>
            <a:ext cx="3048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3238500"/>
            <a:ext cx="30480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89000" y="3365500"/>
            <a:ext cx="279400" cy="279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270000" y="3352800"/>
            <a:ext cx="241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toString() 状态可视化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89000" y="37465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重写后以字符串形式直观展示对象内部数据，是开发调试、日志记录中不可或缺的辅助手段。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000500" y="3238500"/>
            <a:ext cx="3302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000500" y="3238500"/>
            <a:ext cx="33020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127500" y="3365500"/>
            <a:ext cx="279400" cy="2794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4508500" y="3352800"/>
            <a:ext cx="266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对象相等性判定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127500" y="37465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定义业务对象的相等逻辑，是在集合框架（如HashSet、HashMap）中正确存储和检索对象的关键。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2000" y="4889500"/>
            <a:ext cx="6540500" cy="17145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62000" y="4889500"/>
            <a:ext cx="50800" cy="1714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52500" y="4978400"/>
            <a:ext cx="609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核心实现片段：Person.java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952500" y="5334000"/>
            <a:ext cx="622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  <a:t>class Person { private Long id; private String name;</a:t>
            </a:r>
            <a:r>
              <a:rPr lang="en-US" b="false" i="false" strike="noStrike" u="none" sz="1200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  <a:t>// 初始化逻辑 public Person(String name) { this.name = name; }</a:t>
            </a:r>
            <a:r>
              <a:rPr lang="en-US" b="false" i="false" strike="noStrike" u="none" sz="1200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  <a:t>// 安全访问 public String getName() { return name; }</a:t>
            </a:r>
            <a:r>
              <a:rPr lang="en-US" b="false" i="false" strike="noStrike" u="none" sz="1200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  <a:t>// 业务相等判断 public boolean equals(Object o) { return this.id == ((Person)o).id; } }</a:t>
            </a:r>
            <a:endParaRPr lang="en-US" sz="1100"/>
          </a:p>
        </p:txBody>
      </p:sp>
      <p:cxnSp>
        <p:nvCxnSpPr>
          <p:cNvPr name="Connector 32" id="32"/>
          <p:cNvCxnSpPr/>
          <p:nvPr/>
        </p:nvCxnSpPr>
        <p:spPr>
          <a:xfrm rot="5391185" flipH="false" flipV="false">
            <a:off x="5016500" y="3994158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33" id="33"/>
          <p:cNvPicPr>
            <a:picLocks noChangeAspect="true"/>
          </p:cNvPicPr>
          <p:nvPr/>
        </p:nvPicPr>
        <p:blipFill>
          <a:blip r:embed="rId12"/>
          <a:srcRect l="0" r="0" t="4170" b="4170"/>
          <a:stretch>
            <a:fillRect/>
          </a:stretch>
        </p:blipFill>
        <p:spPr>
          <a:xfrm rot="0" flipH="false" flipV="false">
            <a:off x="7747000" y="1524000"/>
            <a:ext cx="4064000" cy="2857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4" id="34"/>
          <p:cNvSpPr/>
          <p:nvPr/>
        </p:nvSpPr>
        <p:spPr>
          <a:xfrm rot="0" flipH="false" flipV="false">
            <a:off x="7747000" y="4508500"/>
            <a:ext cx="4064000" cy="2095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7874000" y="46355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IDE 助力规范落地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7874000" y="5080000"/>
            <a:ext cx="3810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现代 Java 开发工具（如 IntelliJ IDEA、Eclipse）提供了强大的代码生成功能，能一键生成标准的 Getter/Setter、构造器及 equals/hashCode 方法。这不仅大幅提升了开发效率，更从源头避免了手写代码可能引入的语法错误，是将 JavaBean 规范高效转化为实际代码的重要生产力工具。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注解增强：从POJO到JPA实体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6731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要让实体类与数据库表自动映射，我们需要借助</a:t>
            </a:r>
            <a:r>
              <a:rPr lang="en-US" b="true" i="false" strike="noStrike" u="none" sz="14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JPA (Java Persistence API)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注解，将普通的 POJO 转化为可被持久化框架管理的实体类，实现对象与关系型数据的无缝对接。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222500"/>
            <a:ext cx="2159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222500"/>
            <a:ext cx="21590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25500" y="2311400"/>
            <a:ext cx="203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@Entity 实体声明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2692400"/>
            <a:ext cx="2032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标记该类为JPA实体，告知框架此类将被持久化管理，是实现ORM映射的基础前提。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048000" y="2222500"/>
            <a:ext cx="2159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048000" y="2222500"/>
            <a:ext cx="21590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111500" y="2311400"/>
            <a:ext cx="203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@Table 表关联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111500" y="2692400"/>
            <a:ext cx="2032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显式指定实体对应的数据库表名，若省略此注解，默认使用实体类名作为表名。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334000" y="2222500"/>
            <a:ext cx="2159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334000" y="2222500"/>
            <a:ext cx="21590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397500" y="2311400"/>
            <a:ext cx="203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@Id 主键定义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397500" y="2692400"/>
            <a:ext cx="2032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声明该字段为实体的唯一主键，对应数据库表中用于唯一标识记录的主键列。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556000"/>
            <a:ext cx="3302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3556000"/>
            <a:ext cx="33020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25500" y="3619500"/>
            <a:ext cx="317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@GeneratedValue 主键策略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25500" y="3975100"/>
            <a:ext cx="317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配置主键值的自动生成规则（如自增IDENTITY），避免手动维护主键，减少代码冗余。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254500" y="3556000"/>
            <a:ext cx="3302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254500" y="3556000"/>
            <a:ext cx="33020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318000" y="3619500"/>
            <a:ext cx="317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@Column 字段映射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318000" y="3975100"/>
            <a:ext cx="317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定义属性与列的映射细节，包括列名、长度、非空、唯一性等数据库字段约束。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4826000"/>
            <a:ext cx="6794500" cy="15875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89000" y="4914900"/>
            <a:ext cx="127000" cy="1270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079500" y="4914900"/>
            <a:ext cx="127000" cy="127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270000" y="4914900"/>
            <a:ext cx="127000" cy="127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89000" y="5143500"/>
            <a:ext cx="6540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A5B4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@Entity @Table(name = "person")</a:t>
            </a:r>
            <a:r>
              <a:rPr lang="en-US" b="false" i="false" strike="noStrike" u="none" sz="1200">
                <a:solidFill>
                  <a:srgbClr val="A5B4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200">
                <a:solidFill>
                  <a:srgbClr val="A5B4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200">
                <a:solidFill>
                  <a:srgbClr val="A5B4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public class Person {</a:t>
            </a:r>
            <a:r>
              <a:rPr lang="en-US" b="false" i="false" strike="noStrike" u="none" sz="1200">
                <a:solidFill>
                  <a:srgbClr val="A5B4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200">
                <a:solidFill>
                  <a:srgbClr val="A5B4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200">
                <a:solidFill>
                  <a:srgbClr val="A5B4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@Id @GeneratedValue(strategy = IDENTITY) private Long id;</a:t>
            </a:r>
            <a:r>
              <a:rPr lang="en-US" b="false" i="false" strike="noStrike" u="none" sz="1200">
                <a:solidFill>
                  <a:srgbClr val="A5B4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200">
                <a:solidFill>
                  <a:srgbClr val="A5B4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200">
                <a:solidFill>
                  <a:srgbClr val="A5B4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@Column(name = "person_name", length = 50, nullable = false) private String name;</a:t>
            </a:r>
            <a:r>
              <a:rPr lang="en-US" b="false" i="false" strike="noStrike" u="none" sz="1200">
                <a:solidFill>
                  <a:srgbClr val="A5B4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200">
                <a:solidFill>
                  <a:srgbClr val="A5B4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200">
                <a:solidFill>
                  <a:srgbClr val="A5B4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@Column(name = "email", unique = true) private String email; // 更多字段省略...</a:t>
            </a:r>
            <a:r>
              <a:rPr lang="en-US" b="false" i="false" strike="noStrike" u="none" sz="1200">
                <a:solidFill>
                  <a:srgbClr val="A5B4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200">
                <a:solidFill>
                  <a:srgbClr val="A5B4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200">
                <a:solidFill>
                  <a:srgbClr val="A5B4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lang="en-US" sz="1100"/>
          </a:p>
        </p:txBody>
      </p:sp>
      <p:cxnSp>
        <p:nvCxnSpPr>
          <p:cNvPr name="Connector 29" id="29"/>
          <p:cNvCxnSpPr/>
          <p:nvPr/>
        </p:nvCxnSpPr>
        <p:spPr>
          <a:xfrm rot="5391185" flipH="false" flipV="false">
            <a:off x="5207000" y="3930658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30" id="30"/>
          <p:cNvPicPr>
            <a:picLocks noChangeAspect="true"/>
          </p:cNvPicPr>
          <p:nvPr/>
        </p:nvPicPr>
        <p:blipFill>
          <a:blip r:embed="rId2"/>
          <a:srcRect l="0" r="0" t="3428" b="3428"/>
          <a:stretch>
            <a:fillRect/>
          </a:stretch>
        </p:blipFill>
        <p:spPr>
          <a:xfrm rot="0" flipH="false" flipV="false">
            <a:off x="7874000" y="1587500"/>
            <a:ext cx="4064000" cy="2413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1" id="31"/>
          <p:cNvSpPr/>
          <p:nvPr/>
        </p:nvSpPr>
        <p:spPr>
          <a:xfrm rot="0" flipH="false" flipV="false">
            <a:off x="7874000" y="4191000"/>
            <a:ext cx="4064000" cy="22225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12700" cmpd="sng" cap="flat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001000" y="4292600"/>
            <a:ext cx="381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数据库表结构映射示例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001000" y="4724400"/>
            <a:ext cx="38100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图中展示了典型的用户信息表设计，包含主键 uid、业务字段 username、password 等。通过左侧的 JPA 注解配置，我们可以将 `Person` 实体类精准映射到这张物理表上，实现 Java 对象属性与数据库表字段的一一对应，让框架自动处理底层的 SQL 生成与数据持久化逻辑。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应用场景与最佳实践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3492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34925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1651000"/>
            <a:ext cx="3238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Controller 接入层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2095500"/>
            <a:ext cx="3238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作为请求的第一入口，负责接收前端HTTP请求，解析参数并构建 `Person` 实体对象，将其作为数据载体，精准分发给对应的业务服务层进行后续处理。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524000"/>
            <a:ext cx="3492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524000"/>
            <a:ext cx="34925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72000" y="1651000"/>
            <a:ext cx="3238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Service 业务层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2095500"/>
            <a:ext cx="3238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核心业务逻辑的执行中枢。在此层调用数据访问层方法，对 `Person` 对象进行业务规则校验、状态转换与复杂逻辑运算，是实现业务闭环的关键环节。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524000"/>
            <a:ext cx="3492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524000"/>
            <a:ext cx="34925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55000" y="1651000"/>
            <a:ext cx="3238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DAO 数据持久层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55000" y="2095500"/>
            <a:ext cx="3238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负责底层数据库的直接交互。结合 Spring Data JPA 可自动生成实现，大幅简化对 `Person` 实体的 CRUD 操作，确保数据的高效存取与持久化。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429000"/>
            <a:ext cx="2476500" cy="1968500"/>
          </a:xfrm>
          <a:prstGeom prst="roundRect">
            <a:avLst>
              <a:gd name="adj" fmla="val 0"/>
            </a:avLst>
          </a:prstGeom>
          <a:solidFill>
            <a:srgbClr val="F0FDF4">
              <a:alpha val="95000"/>
            </a:srgbClr>
          </a:solidFill>
          <a:ln w="12700" cmpd="sng" cap="flat">
            <a:solidFill>
              <a:srgbClr val="4ADE8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89000" y="3530600"/>
            <a:ext cx="2222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实现序列化接口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89000" y="4000500"/>
            <a:ext cx="2222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让实体类实现 `Serializable` 接口，确保对象在网络 RPC 传输、分布式缓存落地或跨进程通信场景中能够被正确序列化与反序列化。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365500" y="3429000"/>
            <a:ext cx="2476500" cy="1968500"/>
          </a:xfrm>
          <a:prstGeom prst="roundRect">
            <a:avLst>
              <a:gd name="adj" fmla="val 0"/>
            </a:avLst>
          </a:prstGeom>
          <a:solidFill>
            <a:srgbClr val="F0FDF4">
              <a:alpha val="95000"/>
            </a:srgbClr>
          </a:solidFill>
          <a:ln w="12700" cmpd="sng" cap="flat">
            <a:solidFill>
              <a:srgbClr val="4ADE8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492500" y="3530600"/>
            <a:ext cx="2222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包装类替代基本类型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492500" y="4000500"/>
            <a:ext cx="2222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优先使用 Integer、Long 等包装类型。支持 NULL 值存储，完美适配数据库字段的非空约束，同时避免基础类型默认值（如0）带来的业务逻辑误判。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969000" y="3429000"/>
            <a:ext cx="2476500" cy="1968500"/>
          </a:xfrm>
          <a:prstGeom prst="roundRect">
            <a:avLst>
              <a:gd name="adj" fmla="val 0"/>
            </a:avLst>
          </a:prstGeom>
          <a:solidFill>
            <a:srgbClr val="F0FDF4">
              <a:alpha val="95000"/>
            </a:srgbClr>
          </a:solidFill>
          <a:ln w="12700" cmpd="sng" cap="flat">
            <a:solidFill>
              <a:srgbClr val="4ADE8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096000" y="3530600"/>
            <a:ext cx="2222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重写核心方法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096000" y="4000500"/>
            <a:ext cx="2222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基于业务主键（如用户ID）重写 `equals()` 和 `hashCode()`。这是保证 HashMap 存储、Set 去重以及 ORM 框架级联操作正确性的基础。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572500" y="3429000"/>
            <a:ext cx="3048000" cy="1968500"/>
          </a:xfrm>
          <a:prstGeom prst="roundRect">
            <a:avLst>
              <a:gd name="adj" fmla="val 0"/>
            </a:avLst>
          </a:prstGeom>
          <a:solidFill>
            <a:srgbClr val="DCFCE7">
              <a:alpha val="9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699500" y="3530600"/>
            <a:ext cx="279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工程化设计原则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699500" y="4000500"/>
            <a:ext cx="2794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货币金额使用 `BigDecimal` 保证精度；属性过多时采用 Builder 模式；字段命名需语义化；并为所有实体与关键属性添加清晰的 JavaDoc 注释。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2000" y="5588000"/>
            <a:ext cx="10922000" cy="1079500"/>
          </a:xfrm>
          <a:prstGeom prst="roundRect">
            <a:avLst>
              <a:gd name="adj" fmla="val 0"/>
            </a:avLst>
          </a:prstGeom>
          <a:solidFill>
            <a:srgbClr val="1F2937">
              <a:alpha val="8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3"/>
          <a:srcRect l="27397" r="27397" t="0" b="0"/>
          <a:stretch>
            <a:fillRect/>
          </a:stretch>
        </p:blipFill>
        <p:spPr>
          <a:xfrm rot="0" flipH="false" flipV="false">
            <a:off x="2794000" y="5651500"/>
            <a:ext cx="1530959" cy="101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cxnSp>
        <p:nvCxnSpPr>
          <p:cNvPr name="Connector 30" id="30"/>
          <p:cNvCxnSpPr/>
          <p:nvPr/>
        </p:nvCxnSpPr>
        <p:spPr>
          <a:xfrm rot="5342709" flipH="false" flipV="false">
            <a:off x="2222500" y="61151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31" id="31"/>
          <p:cNvCxnSpPr/>
          <p:nvPr/>
        </p:nvCxnSpPr>
        <p:spPr>
          <a:xfrm rot="5342709" flipH="false" flipV="false">
            <a:off x="5651500" y="61151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2" id="32"/>
          <p:cNvSpPr/>
          <p:nvPr/>
        </p:nvSpPr>
        <p:spPr>
          <a:xfrm rot="0" flipH="false" flipV="false">
            <a:off x="6223000" y="5740400"/>
            <a:ext cx="533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遵循这些最佳实践，能帮助我们构建出更健壮、更易于维护的数据模型，从而在复杂的企业级应用开发中，为业务逻辑的稳定运行打下坚实的基础。</a:t>
            </a:r>
            <a:endParaRPr lang="en-US" sz="1100"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{"Label":"1","ContentProducer":"001191110102MACQD9K64010000","ProduceID":"7645930762680716512","ReservedCode1":"","ContentPropagator":"","PropagateID":"","ReservedCode2":""}</vt:lpwstr>
  </property>
</Properties>
</file>